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4" r:id="rId9"/>
    <p:sldId id="271" r:id="rId10"/>
    <p:sldId id="275" r:id="rId11"/>
    <p:sldId id="272" r:id="rId12"/>
    <p:sldId id="273" r:id="rId13"/>
    <p:sldId id="263" r:id="rId14"/>
  </p:sldIdLst>
  <p:sldSz cx="9144000" cy="5143500" type="screen16x9"/>
  <p:notesSz cx="5143500" cy="9144000"/>
  <p:embeddedFontLst>
    <p:embeddedFont>
      <p:font typeface="Golos" panose="020B0604020202020204" charset="0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5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44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ВРЕМЯ 0:15. Добрый день! Мы — [название команды]. Мы сделали PI-Planner — сервис квартального планирования. Он не просто строит план, а объясняет его любому, кто спросит.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ВРЕМЯ 0:10. [Представить участников и роли: кто за что отвечал.] Фото и имена дописать.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ВРЕМЯ 0:50. Представьте понедельник менеджера. Квартал — это десятки задач, шесть спринтов, команды и роли. Открываем систему: тридцать семь задач, двадцать пять рисков, сорок семь вопросов к данным. Таблицы, графики, цвета. (Пауза.) А теперь простой вопрос директора: «Почему задача ANL-3042 не вошла в квартал?» Давайте найдём. (Молчать 5 секунд, пока идёт видео.) Знакомое чувство? Данные есть, а ответа нет. Дело не в данных — дело в том, что человеку приходится самому в них копаться. (Шутка по желанию: сколько вкладок Excel открыто у вашего менеджера в этот момент.)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ВРЕМЯ 0:50. Как это устроено под капотом. Мы берём Excel-датасет. Загрузка запоминает ячейку, откуда пришло каждое значение, поэтому любую цифру можно проследить до источника. Данные лежат в PostgreSQL: отдельный набор на каждый квартал и сценарий. Планировщик раскладывает задачи по шести спринтам с учётом приоритета, зависимостей и людей, и для каждой задачи записывает причину решения. Дальше API с тремя ролями и журналом действий и интерфейс. Отдельной линией — ассистент: сервер сам собирает факты и документы, модель только формулирует ответ, а ответ проверяется перед показом.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ВРЕМЯ 0:55. Цепочка решений. Первое: планировщик жадный, а не математическая оптимизация: он быстрый и каждое решение объясняет словами. Второе: роль нельзя заместить, только дообучить — так сказал заказчик, и отсюда сценарий «Кадровые меры». Третье: у каждого решения есть причина, и пользователь её видит. Четвёртое — главное: у такой системы много графиков и таблиц, в них трудно разобраться. Поэтому мы упрощаем: спросите обычными словами — получите ответ. И пятое: числа в ответе подставляет сервер из сохранённых данных, а не модель, поэтому цифру выдумать нельзя.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ВРЕМЯ 1:05. Что внутри. Сводка — главное за минуту: сколько задач вошло в квартал, где риски. План — шесть спринтов, у каждой задачи видно причину. Клик по задаче — подробности. Риски — что и в каком спринте срывается. Звёздная карта — команды и люди: приближаем, открываем команду, видим состав и Bus Factor — кто незаменим.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ВРЕМЯ 1:25. И вот наше главное отличие. Тот же вопрос — «Почему задача ANL-3042 не вошла в квартал?» Пишем обычными словами, и через несколько секунд — ответ: в штате нет нужной роли, нужно нанять или дообучить сотрудника. Дальше важное: числа подставил сервер, а не модель; у ответа есть «Доказательство» — открываем и видим исходные данные; если данных не хватает, ассистент так и скажет, а не выдумает. Он может сравнить кадровые меры: найм, перевод, обучение — до решения. Любой сотрудник пользуется им без обучения.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ВРЕМЯ 0:20. Мелочи, которые экономят время: фильтры по уровню, типу и спринту, поиск, и выгрузка таблиц в CSV, XLSX и JSON — для отчётов.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ВРЕМЯ 0:20. И интерфейс можно подстроить под себя: четыре палитры, у каждой светлый и тёмный режим. Один клик.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ВРЕМЯ 0:25. Итог. Менеджер за минуту видит план, риски и причины. Решения объяснены. Любой сотрудник спрашивает словами. Данные остаются у вас: можно подключить локальную модель. Дальше — несколько кварталов и сценариев уже поддерживаются, роли и журнал действий готовы, запуск — одной командой.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ВРЕМЯ 0:05. Спасибо! Готовы ответить на вопросы. (Запасное: если спросят про точность — числа из данных, не из модели; если про приватность — локальная модель, данные не уходят наружу.)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7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9.jp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44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8.jp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6.jp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9" Type="http://schemas.openxmlformats.org/officeDocument/2006/relationships/image" Target="../media/image35.png"/><Relationship Id="rId21" Type="http://schemas.openxmlformats.org/officeDocument/2006/relationships/image" Target="../media/image17.png"/><Relationship Id="rId34" Type="http://schemas.openxmlformats.org/officeDocument/2006/relationships/image" Target="../media/image30.png"/><Relationship Id="rId42" Type="http://schemas.openxmlformats.org/officeDocument/2006/relationships/image" Target="../media/image38.png"/><Relationship Id="rId47" Type="http://schemas.openxmlformats.org/officeDocument/2006/relationships/image" Target="../media/image50.png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6" Type="http://schemas.openxmlformats.org/officeDocument/2006/relationships/image" Target="../media/image12.png"/><Relationship Id="rId29" Type="http://schemas.openxmlformats.org/officeDocument/2006/relationships/image" Target="../media/image25.png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24" Type="http://schemas.openxmlformats.org/officeDocument/2006/relationships/image" Target="../media/image20.png"/><Relationship Id="rId32" Type="http://schemas.openxmlformats.org/officeDocument/2006/relationships/image" Target="../media/image28.png"/><Relationship Id="rId37" Type="http://schemas.openxmlformats.org/officeDocument/2006/relationships/image" Target="../media/image33.png"/><Relationship Id="rId40" Type="http://schemas.openxmlformats.org/officeDocument/2006/relationships/image" Target="../media/image36.png"/><Relationship Id="rId45" Type="http://schemas.openxmlformats.org/officeDocument/2006/relationships/image" Target="../media/image41.png"/><Relationship Id="rId5" Type="http://schemas.openxmlformats.org/officeDocument/2006/relationships/image" Target="../media/image1.png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28" Type="http://schemas.openxmlformats.org/officeDocument/2006/relationships/image" Target="../media/image24.png"/><Relationship Id="rId36" Type="http://schemas.openxmlformats.org/officeDocument/2006/relationships/image" Target="../media/image32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31" Type="http://schemas.openxmlformats.org/officeDocument/2006/relationships/image" Target="../media/image27.png"/><Relationship Id="rId44" Type="http://schemas.openxmlformats.org/officeDocument/2006/relationships/image" Target="../media/image40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35" Type="http://schemas.openxmlformats.org/officeDocument/2006/relationships/image" Target="../media/image31.png"/><Relationship Id="rId43" Type="http://schemas.openxmlformats.org/officeDocument/2006/relationships/image" Target="../media/image39.png"/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33" Type="http://schemas.openxmlformats.org/officeDocument/2006/relationships/image" Target="../media/image44.png"/><Relationship Id="rId38" Type="http://schemas.openxmlformats.org/officeDocument/2006/relationships/image" Target="../media/image34.png"/><Relationship Id="rId46" Type="http://schemas.openxmlformats.org/officeDocument/2006/relationships/image" Target="../media/image42.png"/><Relationship Id="rId20" Type="http://schemas.openxmlformats.org/officeDocument/2006/relationships/image" Target="../media/image16.png"/><Relationship Id="rId41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44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44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9" Type="http://schemas.openxmlformats.org/officeDocument/2006/relationships/image" Target="../media/image35.png"/><Relationship Id="rId21" Type="http://schemas.openxmlformats.org/officeDocument/2006/relationships/image" Target="../media/image17.png"/><Relationship Id="rId34" Type="http://schemas.openxmlformats.org/officeDocument/2006/relationships/image" Target="../media/image30.png"/><Relationship Id="rId42" Type="http://schemas.openxmlformats.org/officeDocument/2006/relationships/image" Target="../media/image38.png"/><Relationship Id="rId47" Type="http://schemas.openxmlformats.org/officeDocument/2006/relationships/image" Target="../media/image51.png"/><Relationship Id="rId7" Type="http://schemas.openxmlformats.org/officeDocument/2006/relationships/image" Target="../media/image3.png"/><Relationship Id="rId2" Type="http://schemas.openxmlformats.org/officeDocument/2006/relationships/video" Target="../media/media2.mp4"/><Relationship Id="rId16" Type="http://schemas.openxmlformats.org/officeDocument/2006/relationships/image" Target="../media/image12.png"/><Relationship Id="rId29" Type="http://schemas.openxmlformats.org/officeDocument/2006/relationships/image" Target="../media/image25.png"/><Relationship Id="rId1" Type="http://schemas.microsoft.com/office/2007/relationships/media" Target="../media/media2.mp4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24" Type="http://schemas.openxmlformats.org/officeDocument/2006/relationships/image" Target="../media/image20.png"/><Relationship Id="rId32" Type="http://schemas.openxmlformats.org/officeDocument/2006/relationships/image" Target="../media/image28.png"/><Relationship Id="rId37" Type="http://schemas.openxmlformats.org/officeDocument/2006/relationships/image" Target="../media/image33.png"/><Relationship Id="rId40" Type="http://schemas.openxmlformats.org/officeDocument/2006/relationships/image" Target="../media/image36.png"/><Relationship Id="rId45" Type="http://schemas.openxmlformats.org/officeDocument/2006/relationships/image" Target="../media/image41.png"/><Relationship Id="rId5" Type="http://schemas.openxmlformats.org/officeDocument/2006/relationships/image" Target="../media/image1.png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28" Type="http://schemas.openxmlformats.org/officeDocument/2006/relationships/image" Target="../media/image24.png"/><Relationship Id="rId36" Type="http://schemas.openxmlformats.org/officeDocument/2006/relationships/image" Target="../media/image32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31" Type="http://schemas.openxmlformats.org/officeDocument/2006/relationships/image" Target="../media/image27.png"/><Relationship Id="rId44" Type="http://schemas.openxmlformats.org/officeDocument/2006/relationships/image" Target="../media/image40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35" Type="http://schemas.openxmlformats.org/officeDocument/2006/relationships/image" Target="../media/image31.png"/><Relationship Id="rId43" Type="http://schemas.openxmlformats.org/officeDocument/2006/relationships/image" Target="../media/image39.png"/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33" Type="http://schemas.openxmlformats.org/officeDocument/2006/relationships/image" Target="../media/image44.png"/><Relationship Id="rId38" Type="http://schemas.openxmlformats.org/officeDocument/2006/relationships/image" Target="../media/image34.png"/><Relationship Id="rId46" Type="http://schemas.openxmlformats.org/officeDocument/2006/relationships/image" Target="../media/image42.png"/><Relationship Id="rId20" Type="http://schemas.openxmlformats.org/officeDocument/2006/relationships/image" Target="../media/image16.png"/><Relationship Id="rId41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9" Type="http://schemas.openxmlformats.org/officeDocument/2006/relationships/image" Target="../media/image35.png"/><Relationship Id="rId21" Type="http://schemas.openxmlformats.org/officeDocument/2006/relationships/image" Target="../media/image17.png"/><Relationship Id="rId34" Type="http://schemas.openxmlformats.org/officeDocument/2006/relationships/image" Target="../media/image30.png"/><Relationship Id="rId42" Type="http://schemas.openxmlformats.org/officeDocument/2006/relationships/image" Target="../media/image38.png"/><Relationship Id="rId47" Type="http://schemas.openxmlformats.org/officeDocument/2006/relationships/image" Target="../media/image52.png"/><Relationship Id="rId7" Type="http://schemas.openxmlformats.org/officeDocument/2006/relationships/image" Target="../media/image3.png"/><Relationship Id="rId2" Type="http://schemas.openxmlformats.org/officeDocument/2006/relationships/video" Target="../media/media3.mp4"/><Relationship Id="rId16" Type="http://schemas.openxmlformats.org/officeDocument/2006/relationships/image" Target="../media/image12.png"/><Relationship Id="rId29" Type="http://schemas.openxmlformats.org/officeDocument/2006/relationships/image" Target="../media/image25.png"/><Relationship Id="rId1" Type="http://schemas.microsoft.com/office/2007/relationships/media" Target="../media/media3.mp4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24" Type="http://schemas.openxmlformats.org/officeDocument/2006/relationships/image" Target="../media/image20.png"/><Relationship Id="rId32" Type="http://schemas.openxmlformats.org/officeDocument/2006/relationships/image" Target="../media/image28.png"/><Relationship Id="rId37" Type="http://schemas.openxmlformats.org/officeDocument/2006/relationships/image" Target="../media/image33.png"/><Relationship Id="rId40" Type="http://schemas.openxmlformats.org/officeDocument/2006/relationships/image" Target="../media/image36.png"/><Relationship Id="rId45" Type="http://schemas.openxmlformats.org/officeDocument/2006/relationships/image" Target="../media/image41.png"/><Relationship Id="rId5" Type="http://schemas.openxmlformats.org/officeDocument/2006/relationships/image" Target="../media/image1.png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28" Type="http://schemas.openxmlformats.org/officeDocument/2006/relationships/image" Target="../media/image24.png"/><Relationship Id="rId36" Type="http://schemas.openxmlformats.org/officeDocument/2006/relationships/image" Target="../media/image32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31" Type="http://schemas.openxmlformats.org/officeDocument/2006/relationships/image" Target="../media/image27.png"/><Relationship Id="rId44" Type="http://schemas.openxmlformats.org/officeDocument/2006/relationships/image" Target="../media/image40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35" Type="http://schemas.openxmlformats.org/officeDocument/2006/relationships/image" Target="../media/image31.png"/><Relationship Id="rId43" Type="http://schemas.openxmlformats.org/officeDocument/2006/relationships/image" Target="../media/image39.png"/><Relationship Id="rId48" Type="http://schemas.openxmlformats.org/officeDocument/2006/relationships/image" Target="../media/image53.png"/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33" Type="http://schemas.openxmlformats.org/officeDocument/2006/relationships/image" Target="../media/image44.png"/><Relationship Id="rId38" Type="http://schemas.openxmlformats.org/officeDocument/2006/relationships/image" Target="../media/image34.png"/><Relationship Id="rId46" Type="http://schemas.openxmlformats.org/officeDocument/2006/relationships/image" Target="../media/image42.png"/><Relationship Id="rId20" Type="http://schemas.openxmlformats.org/officeDocument/2006/relationships/image" Target="../media/image16.png"/><Relationship Id="rId41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44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9" Type="http://schemas.openxmlformats.org/officeDocument/2006/relationships/image" Target="../media/image35.png"/><Relationship Id="rId21" Type="http://schemas.openxmlformats.org/officeDocument/2006/relationships/image" Target="../media/image17.png"/><Relationship Id="rId34" Type="http://schemas.openxmlformats.org/officeDocument/2006/relationships/image" Target="../media/image30.png"/><Relationship Id="rId42" Type="http://schemas.openxmlformats.org/officeDocument/2006/relationships/image" Target="../media/image38.png"/><Relationship Id="rId47" Type="http://schemas.openxmlformats.org/officeDocument/2006/relationships/image" Target="../media/image54.png"/><Relationship Id="rId7" Type="http://schemas.openxmlformats.org/officeDocument/2006/relationships/image" Target="../media/image3.png"/><Relationship Id="rId2" Type="http://schemas.openxmlformats.org/officeDocument/2006/relationships/video" Target="../media/media4.mp4"/><Relationship Id="rId16" Type="http://schemas.openxmlformats.org/officeDocument/2006/relationships/image" Target="../media/image12.png"/><Relationship Id="rId29" Type="http://schemas.openxmlformats.org/officeDocument/2006/relationships/image" Target="../media/image25.png"/><Relationship Id="rId1" Type="http://schemas.microsoft.com/office/2007/relationships/media" Target="../media/media4.mp4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24" Type="http://schemas.openxmlformats.org/officeDocument/2006/relationships/image" Target="../media/image20.png"/><Relationship Id="rId32" Type="http://schemas.openxmlformats.org/officeDocument/2006/relationships/image" Target="../media/image28.png"/><Relationship Id="rId37" Type="http://schemas.openxmlformats.org/officeDocument/2006/relationships/image" Target="../media/image33.png"/><Relationship Id="rId40" Type="http://schemas.openxmlformats.org/officeDocument/2006/relationships/image" Target="../media/image36.png"/><Relationship Id="rId45" Type="http://schemas.openxmlformats.org/officeDocument/2006/relationships/image" Target="../media/image41.png"/><Relationship Id="rId5" Type="http://schemas.openxmlformats.org/officeDocument/2006/relationships/image" Target="../media/image1.png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28" Type="http://schemas.openxmlformats.org/officeDocument/2006/relationships/image" Target="../media/image24.png"/><Relationship Id="rId36" Type="http://schemas.openxmlformats.org/officeDocument/2006/relationships/image" Target="../media/image32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31" Type="http://schemas.openxmlformats.org/officeDocument/2006/relationships/image" Target="../media/image27.png"/><Relationship Id="rId44" Type="http://schemas.openxmlformats.org/officeDocument/2006/relationships/image" Target="../media/image40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35" Type="http://schemas.openxmlformats.org/officeDocument/2006/relationships/image" Target="../media/image31.png"/><Relationship Id="rId43" Type="http://schemas.openxmlformats.org/officeDocument/2006/relationships/image" Target="../media/image39.png"/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33" Type="http://schemas.openxmlformats.org/officeDocument/2006/relationships/image" Target="../media/image44.png"/><Relationship Id="rId38" Type="http://schemas.openxmlformats.org/officeDocument/2006/relationships/image" Target="../media/image34.png"/><Relationship Id="rId46" Type="http://schemas.openxmlformats.org/officeDocument/2006/relationships/image" Target="../media/image42.png"/><Relationship Id="rId20" Type="http://schemas.openxmlformats.org/officeDocument/2006/relationships/image" Target="../media/image16.png"/><Relationship Id="rId41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44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9" Type="http://schemas.openxmlformats.org/officeDocument/2006/relationships/image" Target="../media/image35.png"/><Relationship Id="rId21" Type="http://schemas.openxmlformats.org/officeDocument/2006/relationships/image" Target="../media/image17.png"/><Relationship Id="rId34" Type="http://schemas.openxmlformats.org/officeDocument/2006/relationships/image" Target="../media/image30.png"/><Relationship Id="rId42" Type="http://schemas.openxmlformats.org/officeDocument/2006/relationships/image" Target="../media/image38.png"/><Relationship Id="rId47" Type="http://schemas.openxmlformats.org/officeDocument/2006/relationships/image" Target="../media/image55.png"/><Relationship Id="rId7" Type="http://schemas.openxmlformats.org/officeDocument/2006/relationships/image" Target="../media/image3.png"/><Relationship Id="rId2" Type="http://schemas.openxmlformats.org/officeDocument/2006/relationships/video" Target="../media/media5.mp4"/><Relationship Id="rId16" Type="http://schemas.openxmlformats.org/officeDocument/2006/relationships/image" Target="../media/image12.png"/><Relationship Id="rId29" Type="http://schemas.openxmlformats.org/officeDocument/2006/relationships/image" Target="../media/image25.png"/><Relationship Id="rId1" Type="http://schemas.microsoft.com/office/2007/relationships/media" Target="../media/media5.mp4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24" Type="http://schemas.openxmlformats.org/officeDocument/2006/relationships/image" Target="../media/image20.png"/><Relationship Id="rId32" Type="http://schemas.openxmlformats.org/officeDocument/2006/relationships/image" Target="../media/image28.png"/><Relationship Id="rId37" Type="http://schemas.openxmlformats.org/officeDocument/2006/relationships/image" Target="../media/image33.png"/><Relationship Id="rId40" Type="http://schemas.openxmlformats.org/officeDocument/2006/relationships/image" Target="../media/image36.png"/><Relationship Id="rId45" Type="http://schemas.openxmlformats.org/officeDocument/2006/relationships/image" Target="../media/image41.png"/><Relationship Id="rId5" Type="http://schemas.openxmlformats.org/officeDocument/2006/relationships/image" Target="../media/image1.png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28" Type="http://schemas.openxmlformats.org/officeDocument/2006/relationships/image" Target="../media/image24.png"/><Relationship Id="rId36" Type="http://schemas.openxmlformats.org/officeDocument/2006/relationships/image" Target="../media/image32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31" Type="http://schemas.openxmlformats.org/officeDocument/2006/relationships/image" Target="../media/image27.png"/><Relationship Id="rId44" Type="http://schemas.openxmlformats.org/officeDocument/2006/relationships/image" Target="../media/image40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35" Type="http://schemas.openxmlformats.org/officeDocument/2006/relationships/image" Target="../media/image31.png"/><Relationship Id="rId43" Type="http://schemas.openxmlformats.org/officeDocument/2006/relationships/image" Target="../media/image39.png"/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33" Type="http://schemas.openxmlformats.org/officeDocument/2006/relationships/image" Target="../media/image44.png"/><Relationship Id="rId38" Type="http://schemas.openxmlformats.org/officeDocument/2006/relationships/image" Target="../media/image34.png"/><Relationship Id="rId46" Type="http://schemas.openxmlformats.org/officeDocument/2006/relationships/image" Target="../media/image42.png"/><Relationship Id="rId20" Type="http://schemas.openxmlformats.org/officeDocument/2006/relationships/image" Target="../media/image16.png"/><Relationship Id="rId41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56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44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5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57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361950"/>
            <a:ext cx="3757613" cy="272415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28625" y="36195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625" y="476250"/>
            <a:ext cx="1095375" cy="30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76400" y="36195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28269" y="616577"/>
            <a:ext cx="15679" cy="2257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46143" y="607483"/>
            <a:ext cx="16306" cy="3888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64331" y="616577"/>
            <a:ext cx="15365" cy="2257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705877" y="616577"/>
            <a:ext cx="15993" cy="22578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741938" y="616577"/>
            <a:ext cx="15365" cy="22578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85180" y="370730"/>
            <a:ext cx="515526" cy="515526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878682" y="588551"/>
            <a:ext cx="24623" cy="15979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873359" y="599612"/>
            <a:ext cx="23871" cy="11079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901183" y="584015"/>
            <a:ext cx="9399" cy="10095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926951" y="672394"/>
            <a:ext cx="11916" cy="14425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962072" y="673022"/>
            <a:ext cx="10035" cy="13484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926951" y="648876"/>
            <a:ext cx="11916" cy="17625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944825" y="67270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945138" y="650757"/>
            <a:ext cx="10975" cy="16057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964953" y="619353"/>
            <a:ext cx="19320" cy="5739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926010" y="628807"/>
            <a:ext cx="15679" cy="5017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870846" y="714849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2002089" y="736780"/>
            <a:ext cx="51611" cy="10049"/>
          </a:xfrm>
          <a:prstGeom prst="rect">
            <a:avLst/>
          </a:prstGeom>
        </p:spPr>
      </p:pic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20"/>
          <a:srcRect r="2"/>
          <a:stretch/>
        </p:blipFill>
        <p:spPr>
          <a:xfrm>
            <a:off x="1930137" y="725097"/>
            <a:ext cx="46661" cy="9229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774237" y="459787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914408" y="607797"/>
            <a:ext cx="11602" cy="8153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926951" y="604348"/>
            <a:ext cx="15679" cy="5644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925069" y="607797"/>
            <a:ext cx="15365" cy="5331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1718106" y="674903"/>
            <a:ext cx="60521" cy="59267"/>
          </a:xfrm>
          <a:prstGeom prst="rect">
            <a:avLst/>
          </a:prstGeom>
        </p:spPr>
      </p:pic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747583" y="727585"/>
            <a:ext cx="64911" cy="64598"/>
          </a:xfrm>
          <a:prstGeom prst="rect">
            <a:avLst/>
          </a:prstGeom>
        </p:spPr>
      </p:pic>
      <p:pic>
        <p:nvPicPr>
          <p:cNvPr id="31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1794933" y="771172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1858783" y="805965"/>
            <a:ext cx="52923" cy="49575"/>
          </a:xfrm>
          <a:prstGeom prst="rect">
            <a:avLst/>
          </a:prstGeom>
        </p:spPr>
      </p:pic>
      <p:pic>
        <p:nvPicPr>
          <p:cNvPr id="33" name="Image 28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1926323" y="815387"/>
            <a:ext cx="45156" cy="47978"/>
          </a:xfrm>
          <a:prstGeom prst="rect">
            <a:avLst/>
          </a:prstGeom>
        </p:spPr>
      </p:pic>
      <p:pic>
        <p:nvPicPr>
          <p:cNvPr id="34" name="Image 29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1986297" y="803852"/>
            <a:ext cx="51894" cy="49724"/>
          </a:xfrm>
          <a:prstGeom prst="rect">
            <a:avLst/>
          </a:prstGeom>
        </p:spPr>
      </p:pic>
      <p:pic>
        <p:nvPicPr>
          <p:cNvPr id="35" name="Image 30" descr="preencoded.png"/>
          <p:cNvPicPr>
            <a:picLocks noChangeAspect="1"/>
          </p:cNvPicPr>
          <p:nvPr/>
        </p:nvPicPr>
        <p:blipFill>
          <a:blip r:embed="rId31"/>
          <a:srcRect r="2"/>
          <a:stretch/>
        </p:blipFill>
        <p:spPr>
          <a:xfrm>
            <a:off x="2040467" y="768350"/>
            <a:ext cx="58639" cy="66165"/>
          </a:xfrm>
          <a:prstGeom prst="rect">
            <a:avLst/>
          </a:prstGeom>
        </p:spPr>
      </p:pic>
      <p:pic>
        <p:nvPicPr>
          <p:cNvPr id="36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2080919" y="723508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2119195" y="67490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1714657" y="527520"/>
            <a:ext cx="50843" cy="58012"/>
          </a:xfrm>
          <a:prstGeom prst="rect">
            <a:avLst/>
          </a:prstGeom>
        </p:spPr>
      </p:pic>
      <p:pic>
        <p:nvPicPr>
          <p:cNvPr id="39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1737548" y="478288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1776119" y="434074"/>
            <a:ext cx="64911" cy="65225"/>
          </a:xfrm>
          <a:prstGeom prst="rect">
            <a:avLst/>
          </a:prstGeom>
        </p:spPr>
      </p:pic>
      <p:pic>
        <p:nvPicPr>
          <p:cNvPr id="41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1827232" y="411587"/>
            <a:ext cx="54406" cy="55412"/>
          </a:xfrm>
          <a:prstGeom prst="rect">
            <a:avLst/>
          </a:prstGeom>
        </p:spPr>
      </p:pic>
      <p:pic>
        <p:nvPicPr>
          <p:cNvPr id="42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1881795" y="393935"/>
            <a:ext cx="46410" cy="53622"/>
          </a:xfrm>
          <a:prstGeom prst="rect">
            <a:avLst/>
          </a:prstGeom>
        </p:spPr>
      </p:pic>
      <p:pic>
        <p:nvPicPr>
          <p:cNvPr id="43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1933222" y="392994"/>
            <a:ext cx="43588" cy="47664"/>
          </a:xfrm>
          <a:prstGeom prst="rect">
            <a:avLst/>
          </a:prstGeom>
        </p:spPr>
      </p:pic>
      <p:pic>
        <p:nvPicPr>
          <p:cNvPr id="44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1982283" y="402482"/>
            <a:ext cx="50031" cy="49265"/>
          </a:xfrm>
          <a:prstGeom prst="rect">
            <a:avLst/>
          </a:prstGeom>
        </p:spPr>
      </p:pic>
      <p:pic>
        <p:nvPicPr>
          <p:cNvPr id="45" name="Image 40" descr="preencoded.png"/>
          <p:cNvPicPr>
            <a:picLocks noChangeAspect="1"/>
          </p:cNvPicPr>
          <p:nvPr/>
        </p:nvPicPr>
        <p:blipFill>
          <a:blip r:embed="rId41"/>
          <a:srcRect/>
          <a:stretch/>
        </p:blipFill>
        <p:spPr>
          <a:xfrm>
            <a:off x="2024160" y="416199"/>
            <a:ext cx="63343" cy="63970"/>
          </a:xfrm>
          <a:prstGeom prst="rect">
            <a:avLst/>
          </a:prstGeom>
        </p:spPr>
      </p:pic>
      <p:pic>
        <p:nvPicPr>
          <p:cNvPr id="46" name="Image 41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2075274" y="449439"/>
            <a:ext cx="53309" cy="52995"/>
          </a:xfrm>
          <a:prstGeom prst="rect">
            <a:avLst/>
          </a:prstGeom>
        </p:spPr>
      </p:pic>
      <p:pic>
        <p:nvPicPr>
          <p:cNvPr id="47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2096598" y="491459"/>
            <a:ext cx="59580" cy="56758"/>
          </a:xfrm>
          <a:prstGeom prst="rect">
            <a:avLst/>
          </a:prstGeom>
        </p:spPr>
      </p:pic>
      <p:pic>
        <p:nvPicPr>
          <p:cNvPr id="48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2121371" y="534419"/>
            <a:ext cx="53622" cy="43274"/>
          </a:xfrm>
          <a:prstGeom prst="rect">
            <a:avLst/>
          </a:prstGeom>
        </p:spPr>
      </p:pic>
      <p:sp>
        <p:nvSpPr>
          <p:cNvPr id="49" name="Shape 3"/>
          <p:cNvSpPr/>
          <p:nvPr/>
        </p:nvSpPr>
        <p:spPr>
          <a:xfrm>
            <a:off x="428625" y="1371600"/>
            <a:ext cx="3757613" cy="1714500"/>
          </a:xfrm>
          <a:prstGeom prst="rect">
            <a:avLst/>
          </a:prstGeom>
          <a:noFill/>
          <a:ln/>
        </p:spPr>
      </p:sp>
      <p:sp>
        <p:nvSpPr>
          <p:cNvPr id="50" name="Text 4"/>
          <p:cNvSpPr/>
          <p:nvPr/>
        </p:nvSpPr>
        <p:spPr>
          <a:xfrm>
            <a:off x="429768" y="12344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5322"/>
              </a:lnSpc>
              <a:buNone/>
            </a:pPr>
            <a:r>
              <a:rPr lang="en-US" sz="4000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PostCode Challenge</a:t>
            </a:r>
            <a:endParaRPr lang="en-US" sz="5914" dirty="0"/>
          </a:p>
        </p:txBody>
      </p:sp>
      <p:sp>
        <p:nvSpPr>
          <p:cNvPr id="51" name="Text 5"/>
          <p:cNvSpPr/>
          <p:nvPr/>
        </p:nvSpPr>
        <p:spPr>
          <a:xfrm>
            <a:off x="429768" y="2514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776"/>
              </a:lnSpc>
              <a:buNone/>
            </a:pPr>
            <a:r>
              <a:rPr lang="en-US" sz="240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от </a:t>
            </a:r>
            <a:r>
              <a:rPr lang="en-US" sz="2400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Почтатеха</a:t>
            </a:r>
            <a:endParaRPr lang="en-US" sz="3776" dirty="0"/>
          </a:p>
        </p:txBody>
      </p:sp>
      <p:pic>
        <p:nvPicPr>
          <p:cNvPr id="52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4333875" y="1238250"/>
            <a:ext cx="4695825" cy="3509963"/>
          </a:xfrm>
          <a:prstGeom prst="rect">
            <a:avLst/>
          </a:prstGeom>
        </p:spPr>
      </p:pic>
      <p:sp>
        <p:nvSpPr>
          <p:cNvPr id="53" name="Shape 6"/>
          <p:cNvSpPr/>
          <p:nvPr/>
        </p:nvSpPr>
        <p:spPr>
          <a:xfrm>
            <a:off x="429768" y="3154680"/>
            <a:ext cx="3840480" cy="1280160"/>
          </a:xfrm>
          <a:prstGeom prst="roundRect">
            <a:avLst>
              <a:gd name="adj" fmla="val 64000"/>
            </a:avLst>
          </a:prstGeom>
          <a:solidFill>
            <a:srgbClr val="6D28D9">
              <a:alpha val="40000"/>
            </a:srgbClr>
          </a:solidFill>
          <a:ln w="4524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4" name="Text 7"/>
          <p:cNvSpPr/>
          <p:nvPr/>
        </p:nvSpPr>
        <p:spPr>
          <a:xfrm>
            <a:off x="713232" y="33101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ts val="2900"/>
              </a:lnSpc>
              <a:buNone/>
            </a:pPr>
            <a:r>
              <a:rPr lang="en-US" sz="1600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</a:rPr>
              <a:t>The Prompt Legion</a:t>
            </a:r>
            <a:endParaRPr lang="en-US" sz="2636" dirty="0"/>
          </a:p>
        </p:txBody>
      </p:sp>
      <p:sp>
        <p:nvSpPr>
          <p:cNvPr id="55" name="Text 8"/>
          <p:cNvSpPr/>
          <p:nvPr/>
        </p:nvSpPr>
        <p:spPr>
          <a:xfrm>
            <a:off x="713232" y="37216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ts val="2116"/>
              </a:lnSpc>
              <a:buNone/>
            </a:pPr>
            <a:r>
              <a:rPr lang="en-US" sz="1200" dirty="0">
                <a:solidFill>
                  <a:srgbClr val="ECEDF2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PI-Planner: планирование команд и звёздная карта</a:t>
            </a:r>
            <a:endParaRPr lang="en-US" sz="192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9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6"/>
            <a:ext cx="15679" cy="2257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6"/>
            <a:ext cx="15365" cy="2257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6"/>
            <a:ext cx="15993" cy="2257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6"/>
            <a:ext cx="15365" cy="22578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0"/>
            <a:ext cx="24623" cy="15979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0"/>
          <a:srcRect b="-9"/>
          <a:stretch/>
        </p:blipFill>
        <p:spPr>
          <a:xfrm>
            <a:off x="8617059" y="428162"/>
            <a:ext cx="23871" cy="11080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6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3"/>
          <a:srcRect r="10"/>
          <a:stretch/>
        </p:blipFill>
        <p:spPr>
          <a:xfrm>
            <a:off x="8705772" y="501571"/>
            <a:ext cx="10034" cy="13484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6"/>
            <a:ext cx="15679" cy="5017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9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0"/>
          <a:srcRect r="2"/>
          <a:stretch/>
        </p:blipFill>
        <p:spPr>
          <a:xfrm>
            <a:off x="8673837" y="553646"/>
            <a:ext cx="46661" cy="9229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7"/>
            <a:ext cx="15679" cy="564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6"/>
          <a:srcRect b="2"/>
          <a:stretch/>
        </p:blipFill>
        <p:spPr>
          <a:xfrm>
            <a:off x="8491283" y="556133"/>
            <a:ext cx="64911" cy="64597"/>
          </a:xfrm>
          <a:prstGeom prst="rect">
            <a:avLst/>
          </a:prstGeom>
        </p:spPr>
      </p:pic>
      <p:pic>
        <p:nvPicPr>
          <p:cNvPr id="59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28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61" name="Image 28" descr="preencoded.png"/>
          <p:cNvPicPr>
            <a:picLocks noChangeAspect="1"/>
          </p:cNvPicPr>
          <p:nvPr/>
        </p:nvPicPr>
        <p:blipFill>
          <a:blip r:embed="rId29"/>
          <a:srcRect r="2" b="2"/>
          <a:stretch/>
        </p:blipFill>
        <p:spPr>
          <a:xfrm>
            <a:off x="8670023" y="643936"/>
            <a:ext cx="45155" cy="47977"/>
          </a:xfrm>
          <a:prstGeom prst="rect">
            <a:avLst/>
          </a:prstGeom>
        </p:spPr>
      </p:pic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729997" y="632401"/>
            <a:ext cx="51895" cy="49724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31"/>
          <a:srcRect r="2" b="-2"/>
          <a:stretch/>
        </p:blipFill>
        <p:spPr>
          <a:xfrm>
            <a:off x="8784166" y="596900"/>
            <a:ext cx="58639" cy="66166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7"/>
            <a:ext cx="64911" cy="64284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66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0"/>
            <a:ext cx="50843" cy="58013"/>
          </a:xfrm>
          <a:prstGeom prst="rect">
            <a:avLst/>
          </a:prstGeom>
        </p:spPr>
      </p:pic>
      <p:pic>
        <p:nvPicPr>
          <p:cNvPr id="67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68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519818" y="262622"/>
            <a:ext cx="64911" cy="65225"/>
          </a:xfrm>
          <a:prstGeom prst="rect">
            <a:avLst/>
          </a:prstGeom>
        </p:spPr>
      </p:pic>
      <p:pic>
        <p:nvPicPr>
          <p:cNvPr id="69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4"/>
            <a:ext cx="46410" cy="53622"/>
          </a:xfrm>
          <a:prstGeom prst="rect">
            <a:avLst/>
          </a:prstGeom>
        </p:spPr>
      </p:pic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3"/>
            <a:ext cx="43588" cy="47665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1"/>
            <a:ext cx="50031" cy="49266"/>
          </a:xfrm>
          <a:prstGeom prst="rect">
            <a:avLst/>
          </a:prstGeom>
        </p:spPr>
      </p:pic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49"/>
            <a:ext cx="63343" cy="63971"/>
          </a:xfrm>
          <a:prstGeom prst="rect">
            <a:avLst/>
          </a:prstGeom>
        </p:spPr>
      </p:pic>
      <p:pic>
        <p:nvPicPr>
          <p:cNvPr id="74" name="Image 41" descr="preencoded.png"/>
          <p:cNvPicPr>
            <a:picLocks noChangeAspect="1"/>
          </p:cNvPicPr>
          <p:nvPr/>
        </p:nvPicPr>
        <p:blipFill>
          <a:blip r:embed="rId42"/>
          <a:srcRect r="2" b="-2"/>
          <a:stretch/>
        </p:blipFill>
        <p:spPr>
          <a:xfrm>
            <a:off x="8818974" y="277989"/>
            <a:ext cx="53308" cy="52996"/>
          </a:xfrm>
          <a:prstGeom prst="rect">
            <a:avLst/>
          </a:prstGeom>
        </p:spPr>
      </p:pic>
      <p:pic>
        <p:nvPicPr>
          <p:cNvPr id="75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76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92024" y="27432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olos"/>
              </a:rPr>
              <a:t>Команда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01168" y="1234440"/>
            <a:ext cx="1627632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10896" y="2898648"/>
            <a:ext cx="142646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300" b="1" dirty="0">
                <a:solidFill>
                  <a:srgbClr val="2E1065"/>
                </a:solidFill>
                <a:latin typeface="Golos"/>
              </a:rPr>
              <a:t>Городецкий </a:t>
            </a:r>
            <a:br>
              <a:rPr lang="ru-RU" sz="1300" b="1" dirty="0">
                <a:solidFill>
                  <a:srgbClr val="2E1065"/>
                </a:solidFill>
                <a:latin typeface="Golos"/>
              </a:rPr>
            </a:br>
            <a:r>
              <a:rPr lang="ru-RU" sz="1300" b="1" dirty="0">
                <a:solidFill>
                  <a:srgbClr val="2E1065"/>
                </a:solidFill>
                <a:latin typeface="Golos"/>
              </a:rPr>
              <a:t>Олег</a:t>
            </a:r>
            <a:endParaRPr sz="1300" b="1" dirty="0">
              <a:solidFill>
                <a:srgbClr val="2E1065"/>
              </a:solidFill>
              <a:latin typeface="Golo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10896" y="3310128"/>
            <a:ext cx="14264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dirty="0">
                <a:solidFill>
                  <a:srgbClr val="6A708C"/>
                </a:solidFill>
                <a:latin typeface="Golos"/>
              </a:rPr>
              <a:t>Frontend</a:t>
            </a:r>
            <a:endParaRPr sz="1100" b="0" dirty="0">
              <a:solidFill>
                <a:srgbClr val="6A708C"/>
              </a:solidFill>
              <a:latin typeface="Golos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1975104" y="1234440"/>
            <a:ext cx="1627632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084832" y="2898648"/>
            <a:ext cx="142646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300" b="1" dirty="0">
                <a:solidFill>
                  <a:srgbClr val="2E1065"/>
                </a:solidFill>
                <a:latin typeface="Golos"/>
              </a:rPr>
              <a:t>Жилин </a:t>
            </a:r>
            <a:br>
              <a:rPr lang="ru-RU" sz="1300" b="1" dirty="0">
                <a:solidFill>
                  <a:srgbClr val="2E1065"/>
                </a:solidFill>
                <a:latin typeface="Golos"/>
              </a:rPr>
            </a:br>
            <a:r>
              <a:rPr lang="ru-RU" sz="1300" b="1" dirty="0">
                <a:solidFill>
                  <a:srgbClr val="2E1065"/>
                </a:solidFill>
                <a:latin typeface="Golos"/>
              </a:rPr>
              <a:t>Даниил</a:t>
            </a:r>
            <a:endParaRPr sz="1300" b="1" dirty="0">
              <a:solidFill>
                <a:srgbClr val="2E1065"/>
              </a:solidFill>
              <a:latin typeface="Golo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084832" y="3310128"/>
            <a:ext cx="14264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dirty="0">
                <a:solidFill>
                  <a:srgbClr val="6A708C"/>
                </a:solidFill>
                <a:latin typeface="Golos"/>
              </a:rPr>
              <a:t>Backend</a:t>
            </a:r>
            <a:endParaRPr sz="1100" b="0" dirty="0">
              <a:solidFill>
                <a:srgbClr val="6A708C"/>
              </a:solidFill>
              <a:latin typeface="Golos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749039" y="1234440"/>
            <a:ext cx="1627632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858768" y="2898648"/>
            <a:ext cx="142646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300" b="1" dirty="0" err="1">
                <a:solidFill>
                  <a:srgbClr val="2E1065"/>
                </a:solidFill>
                <a:latin typeface="Golos"/>
              </a:rPr>
              <a:t>Бущенко</a:t>
            </a:r>
            <a:r>
              <a:rPr lang="ru-RU" sz="1300" b="1" dirty="0">
                <a:solidFill>
                  <a:srgbClr val="2E1065"/>
                </a:solidFill>
                <a:latin typeface="Golos"/>
              </a:rPr>
              <a:t> </a:t>
            </a:r>
            <a:br>
              <a:rPr lang="ru-RU" sz="1300" b="1" dirty="0">
                <a:solidFill>
                  <a:srgbClr val="2E1065"/>
                </a:solidFill>
                <a:latin typeface="Golos"/>
              </a:rPr>
            </a:br>
            <a:r>
              <a:rPr lang="ru-RU" sz="1300" b="1" dirty="0">
                <a:solidFill>
                  <a:srgbClr val="2E1065"/>
                </a:solidFill>
                <a:latin typeface="Golos"/>
              </a:rPr>
              <a:t>Макар</a:t>
            </a:r>
            <a:endParaRPr sz="1300" b="1" dirty="0">
              <a:solidFill>
                <a:srgbClr val="2E1065"/>
              </a:solidFill>
              <a:latin typeface="Golo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3858768" y="3310128"/>
            <a:ext cx="14264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dirty="0">
                <a:solidFill>
                  <a:srgbClr val="6A708C"/>
                </a:solidFill>
                <a:latin typeface="Golos"/>
              </a:rPr>
              <a:t>Data-Scientist</a:t>
            </a:r>
            <a:endParaRPr sz="1100" b="0" dirty="0">
              <a:solidFill>
                <a:srgbClr val="6A708C"/>
              </a:solidFill>
              <a:latin typeface="Golos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5522976" y="1234440"/>
            <a:ext cx="1627632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632704" y="2898648"/>
            <a:ext cx="142646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300" b="1" dirty="0">
                <a:solidFill>
                  <a:srgbClr val="2E1065"/>
                </a:solidFill>
                <a:latin typeface="Golos"/>
              </a:rPr>
              <a:t>Коломийченко Илья</a:t>
            </a:r>
            <a:endParaRPr sz="1300" b="1" dirty="0">
              <a:solidFill>
                <a:srgbClr val="2E1065"/>
              </a:solidFill>
              <a:latin typeface="Golo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632704" y="3310128"/>
            <a:ext cx="14264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dirty="0">
                <a:solidFill>
                  <a:srgbClr val="6A708C"/>
                </a:solidFill>
                <a:latin typeface="Golos"/>
              </a:rPr>
              <a:t>DevOps</a:t>
            </a:r>
            <a:endParaRPr sz="1100" b="0" dirty="0">
              <a:solidFill>
                <a:srgbClr val="6A708C"/>
              </a:solidFill>
              <a:latin typeface="Golos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7296912" y="1234440"/>
            <a:ext cx="1627632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406640" y="2898648"/>
            <a:ext cx="142646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300" b="1" dirty="0" err="1">
                <a:solidFill>
                  <a:srgbClr val="2E1065"/>
                </a:solidFill>
                <a:latin typeface="Golos"/>
              </a:rPr>
              <a:t>Корешонков</a:t>
            </a:r>
            <a:r>
              <a:rPr lang="ru-RU" sz="1300" b="1" dirty="0">
                <a:solidFill>
                  <a:srgbClr val="2E1065"/>
                </a:solidFill>
                <a:latin typeface="Golos"/>
              </a:rPr>
              <a:t> Михаил</a:t>
            </a:r>
            <a:endParaRPr sz="1300" b="1" dirty="0">
              <a:solidFill>
                <a:srgbClr val="2E1065"/>
              </a:solidFill>
              <a:latin typeface="Golos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7406640" y="3310128"/>
            <a:ext cx="14264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dirty="0">
                <a:solidFill>
                  <a:srgbClr val="6A708C"/>
                </a:solidFill>
                <a:latin typeface="Golos"/>
              </a:rPr>
              <a:t>Frontend</a:t>
            </a:r>
            <a:endParaRPr sz="1100" b="0" dirty="0">
              <a:solidFill>
                <a:srgbClr val="6A708C"/>
              </a:solidFill>
              <a:latin typeface="Golo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EB4059-E441-2754-E8B0-6906593E0FB0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849624" y="1325880"/>
            <a:ext cx="1444752" cy="1444752"/>
          </a:xfrm>
          <a:prstGeom prst="roundRect">
            <a:avLst>
              <a:gd name="adj" fmla="val 4480"/>
            </a:avLst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396BA20-E63E-7FB7-376C-4454AF5374A8}"/>
              </a:ext>
            </a:extLst>
          </p:cNvPr>
          <p:cNvPicPr>
            <a:picLocks noChangeAspect="1"/>
          </p:cNvPicPr>
          <p:nvPr/>
        </p:nvPicPr>
        <p:blipFill>
          <a:blip r:embed="rId46"/>
          <a:srcRect t="5977" b="5977"/>
          <a:stretch/>
        </p:blipFill>
        <p:spPr>
          <a:xfrm>
            <a:off x="5614416" y="1325880"/>
            <a:ext cx="1444752" cy="1444752"/>
          </a:xfrm>
          <a:prstGeom prst="roundRect">
            <a:avLst>
              <a:gd name="adj" fmla="val 4480"/>
            </a:avLst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8241F7E-BA0B-2907-726D-6CE94664E6AE}"/>
              </a:ext>
            </a:extLst>
          </p:cNvPr>
          <p:cNvPicPr>
            <a:picLocks noChangeAspect="1"/>
          </p:cNvPicPr>
          <p:nvPr/>
        </p:nvPicPr>
        <p:blipFill>
          <a:blip r:embed="rId47"/>
          <a:srcRect/>
          <a:stretch/>
        </p:blipFill>
        <p:spPr>
          <a:xfrm>
            <a:off x="7394448" y="1325880"/>
            <a:ext cx="1444752" cy="1444752"/>
          </a:xfrm>
          <a:prstGeom prst="roundRect">
            <a:avLst>
              <a:gd name="adj" fmla="val 4480"/>
            </a:avLst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1F23A01-57D7-2DF3-FF07-5CC2E5B9C015}"/>
              </a:ext>
            </a:extLst>
          </p:cNvPr>
          <p:cNvPicPr>
            <a:picLocks noChangeAspect="1"/>
          </p:cNvPicPr>
          <p:nvPr/>
        </p:nvPicPr>
        <p:blipFill>
          <a:blip r:embed="rId48"/>
          <a:srcRect t="12422" b="12422"/>
          <a:stretch/>
        </p:blipFill>
        <p:spPr>
          <a:xfrm>
            <a:off x="2066544" y="1325880"/>
            <a:ext cx="1444752" cy="1444752"/>
          </a:xfrm>
          <a:prstGeom prst="roundRect">
            <a:avLst>
              <a:gd name="adj" fmla="val 4480"/>
            </a:avLst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74D5971-8147-42D9-F0AE-91DEFBA7BA8F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t="3439" b="3439"/>
          <a:stretch/>
        </p:blipFill>
        <p:spPr>
          <a:xfrm>
            <a:off x="292608" y="1325880"/>
            <a:ext cx="1444752" cy="1444752"/>
          </a:xfrm>
          <a:prstGeom prst="roundRect">
            <a:avLst>
              <a:gd name="adj" fmla="val 4480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9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71969" y="445126"/>
            <a:ext cx="15679" cy="2257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08031" y="445126"/>
            <a:ext cx="15365" cy="2257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49577" y="445126"/>
            <a:ext cx="15993" cy="2257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85638" y="445126"/>
            <a:ext cx="15365" cy="22578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22382" y="417100"/>
            <a:ext cx="24623" cy="15979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2"/>
          <a:srcRect b="-9"/>
          <a:stretch/>
        </p:blipFill>
        <p:spPr>
          <a:xfrm>
            <a:off x="8617059" y="428162"/>
            <a:ext cx="23871" cy="11080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644883" y="412565"/>
            <a:ext cx="9399" cy="10096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5"/>
          <a:srcRect r="10"/>
          <a:stretch/>
        </p:blipFill>
        <p:spPr>
          <a:xfrm>
            <a:off x="8705772" y="501571"/>
            <a:ext cx="10034" cy="13484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6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669710" y="457356"/>
            <a:ext cx="15679" cy="5017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21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2"/>
          <a:srcRect r="2"/>
          <a:stretch/>
        </p:blipFill>
        <p:spPr>
          <a:xfrm>
            <a:off x="8673837" y="553646"/>
            <a:ext cx="46661" cy="9229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4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8670651" y="432897"/>
            <a:ext cx="15679" cy="564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7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8"/>
          <a:srcRect b="2"/>
          <a:stretch/>
        </p:blipFill>
        <p:spPr>
          <a:xfrm>
            <a:off x="8491283" y="556133"/>
            <a:ext cx="64911" cy="64597"/>
          </a:xfrm>
          <a:prstGeom prst="rect">
            <a:avLst/>
          </a:prstGeom>
        </p:spPr>
      </p:pic>
      <p:pic>
        <p:nvPicPr>
          <p:cNvPr id="59" name="Image 26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61" name="Image 28" descr="preencoded.png"/>
          <p:cNvPicPr>
            <a:picLocks noChangeAspect="1"/>
          </p:cNvPicPr>
          <p:nvPr/>
        </p:nvPicPr>
        <p:blipFill>
          <a:blip r:embed="rId31"/>
          <a:srcRect r="2" b="2"/>
          <a:stretch/>
        </p:blipFill>
        <p:spPr>
          <a:xfrm>
            <a:off x="8670023" y="643936"/>
            <a:ext cx="45155" cy="47977"/>
          </a:xfrm>
          <a:prstGeom prst="rect">
            <a:avLst/>
          </a:prstGeom>
        </p:spPr>
      </p:pic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32"/>
          <a:srcRect r="-2"/>
          <a:stretch/>
        </p:blipFill>
        <p:spPr>
          <a:xfrm>
            <a:off x="8729997" y="632401"/>
            <a:ext cx="51895" cy="49724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33"/>
          <a:srcRect r="2" b="-2"/>
          <a:stretch/>
        </p:blipFill>
        <p:spPr>
          <a:xfrm>
            <a:off x="8784166" y="596900"/>
            <a:ext cx="58639" cy="66166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824618" y="552057"/>
            <a:ext cx="64911" cy="64284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66" name="Image 33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458357" y="356070"/>
            <a:ext cx="50843" cy="58013"/>
          </a:xfrm>
          <a:prstGeom prst="rect">
            <a:avLst/>
          </a:prstGeom>
        </p:spPr>
      </p:pic>
      <p:pic>
        <p:nvPicPr>
          <p:cNvPr id="67" name="Image 34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68" name="Image 35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519818" y="262622"/>
            <a:ext cx="64911" cy="65225"/>
          </a:xfrm>
          <a:prstGeom prst="rect">
            <a:avLst/>
          </a:prstGeom>
        </p:spPr>
      </p:pic>
      <p:pic>
        <p:nvPicPr>
          <p:cNvPr id="69" name="Image 36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625496" y="222484"/>
            <a:ext cx="46410" cy="53622"/>
          </a:xfrm>
          <a:prstGeom prst="rect">
            <a:avLst/>
          </a:prstGeom>
        </p:spPr>
      </p:pic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41"/>
          <a:srcRect/>
          <a:stretch/>
        </p:blipFill>
        <p:spPr>
          <a:xfrm>
            <a:off x="8676923" y="221543"/>
            <a:ext cx="43588" cy="47665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8725982" y="231031"/>
            <a:ext cx="50031" cy="49266"/>
          </a:xfrm>
          <a:prstGeom prst="rect">
            <a:avLst/>
          </a:prstGeom>
        </p:spPr>
      </p:pic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43"/>
          <a:srcRect b="-2"/>
          <a:stretch/>
        </p:blipFill>
        <p:spPr>
          <a:xfrm>
            <a:off x="8767860" y="244749"/>
            <a:ext cx="63343" cy="63971"/>
          </a:xfrm>
          <a:prstGeom prst="rect">
            <a:avLst/>
          </a:prstGeom>
        </p:spPr>
      </p:pic>
      <p:pic>
        <p:nvPicPr>
          <p:cNvPr id="74" name="Image 41" descr="preencoded.png"/>
          <p:cNvPicPr>
            <a:picLocks noChangeAspect="1"/>
          </p:cNvPicPr>
          <p:nvPr/>
        </p:nvPicPr>
        <p:blipFill>
          <a:blip r:embed="rId44"/>
          <a:srcRect r="2" b="-2"/>
          <a:stretch/>
        </p:blipFill>
        <p:spPr>
          <a:xfrm>
            <a:off x="8818974" y="277989"/>
            <a:ext cx="53308" cy="52996"/>
          </a:xfrm>
          <a:prstGeom prst="rect">
            <a:avLst/>
          </a:prstGeom>
        </p:spPr>
      </p:pic>
      <p:pic>
        <p:nvPicPr>
          <p:cNvPr id="75" name="Image 42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76" name="Image 43" descr="preencoded.png"/>
          <p:cNvPicPr>
            <a:picLocks noChangeAspect="1"/>
          </p:cNvPicPr>
          <p:nvPr/>
        </p:nvPicPr>
        <p:blipFill>
          <a:blip r:embed="rId46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92024" y="27432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EFE8FF"/>
                </a:solidFill>
                <a:latin typeface="Golos"/>
              </a:rPr>
              <a:t>Понедельник менеджера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92024" y="960120"/>
            <a:ext cx="5705855" cy="3265551"/>
          </a:xfrm>
          <a:prstGeom prst="roundRect">
            <a:avLst>
              <a:gd name="adj" fmla="val 3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9" name="violet_problem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7"/>
          <a:stretch>
            <a:fillRect/>
          </a:stretch>
        </p:blipFill>
        <p:spPr>
          <a:xfrm>
            <a:off x="256032" y="1024128"/>
            <a:ext cx="5577840" cy="3137535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126480" y="10058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DD4BF"/>
                </a:solidFill>
                <a:latin typeface="Golos"/>
              </a:rPr>
              <a:t>37 задач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26480" y="14813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9A8EE"/>
                </a:solidFill>
                <a:latin typeface="Golos"/>
              </a:rPr>
              <a:t>в квартале, 8 из них вошли в план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0" y="1874519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DD4BF"/>
                </a:solidFill>
                <a:latin typeface="Golos"/>
              </a:rPr>
              <a:t>25 рисков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0" y="23500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9A8EE"/>
                </a:solidFill>
                <a:latin typeface="Golos"/>
              </a:rPr>
              <a:t>13 из них критичные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26480" y="27432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DD4BF"/>
                </a:solidFill>
                <a:latin typeface="Golos"/>
              </a:rPr>
              <a:t>47 вопросов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26480" y="32186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9A8EE"/>
                </a:solidFill>
                <a:latin typeface="Golos"/>
              </a:rPr>
              <a:t>к данным загруженного датасета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26480" y="3931920"/>
            <a:ext cx="2834640" cy="640080"/>
          </a:xfrm>
          <a:prstGeom prst="roundRect">
            <a:avLst>
              <a:gd name="adj" fmla="val 16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63640" y="39319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olos"/>
              </a:rPr>
              <a:t>Найдите: почему ANL-3042 не в плане?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9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6"/>
            <a:ext cx="15679" cy="2257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6"/>
            <a:ext cx="15365" cy="2257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6"/>
            <a:ext cx="15993" cy="2257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6"/>
            <a:ext cx="15365" cy="22578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0"/>
            <a:ext cx="24623" cy="15979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0"/>
          <a:srcRect b="-9"/>
          <a:stretch/>
        </p:blipFill>
        <p:spPr>
          <a:xfrm>
            <a:off x="8617059" y="428162"/>
            <a:ext cx="23871" cy="11080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6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3"/>
          <a:srcRect r="10"/>
          <a:stretch/>
        </p:blipFill>
        <p:spPr>
          <a:xfrm>
            <a:off x="8705772" y="501571"/>
            <a:ext cx="10034" cy="13484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6"/>
            <a:ext cx="15679" cy="5017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9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0"/>
          <a:srcRect r="2"/>
          <a:stretch/>
        </p:blipFill>
        <p:spPr>
          <a:xfrm>
            <a:off x="8673837" y="553646"/>
            <a:ext cx="46661" cy="9229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7"/>
            <a:ext cx="15679" cy="564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6"/>
          <a:srcRect b="2"/>
          <a:stretch/>
        </p:blipFill>
        <p:spPr>
          <a:xfrm>
            <a:off x="8491283" y="556133"/>
            <a:ext cx="64911" cy="64597"/>
          </a:xfrm>
          <a:prstGeom prst="rect">
            <a:avLst/>
          </a:prstGeom>
        </p:spPr>
      </p:pic>
      <p:pic>
        <p:nvPicPr>
          <p:cNvPr id="59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28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61" name="Image 28" descr="preencoded.png"/>
          <p:cNvPicPr>
            <a:picLocks noChangeAspect="1"/>
          </p:cNvPicPr>
          <p:nvPr/>
        </p:nvPicPr>
        <p:blipFill>
          <a:blip r:embed="rId29"/>
          <a:srcRect r="2" b="2"/>
          <a:stretch/>
        </p:blipFill>
        <p:spPr>
          <a:xfrm>
            <a:off x="8670023" y="643936"/>
            <a:ext cx="45155" cy="47977"/>
          </a:xfrm>
          <a:prstGeom prst="rect">
            <a:avLst/>
          </a:prstGeom>
        </p:spPr>
      </p:pic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729997" y="632401"/>
            <a:ext cx="51895" cy="49724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31"/>
          <a:srcRect r="2" b="-2"/>
          <a:stretch/>
        </p:blipFill>
        <p:spPr>
          <a:xfrm>
            <a:off x="8784166" y="596900"/>
            <a:ext cx="58639" cy="66166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7"/>
            <a:ext cx="64911" cy="64284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66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0"/>
            <a:ext cx="50843" cy="58013"/>
          </a:xfrm>
          <a:prstGeom prst="rect">
            <a:avLst/>
          </a:prstGeom>
        </p:spPr>
      </p:pic>
      <p:pic>
        <p:nvPicPr>
          <p:cNvPr id="67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68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519818" y="262622"/>
            <a:ext cx="64911" cy="65225"/>
          </a:xfrm>
          <a:prstGeom prst="rect">
            <a:avLst/>
          </a:prstGeom>
        </p:spPr>
      </p:pic>
      <p:pic>
        <p:nvPicPr>
          <p:cNvPr id="69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4"/>
            <a:ext cx="46410" cy="53622"/>
          </a:xfrm>
          <a:prstGeom prst="rect">
            <a:avLst/>
          </a:prstGeom>
        </p:spPr>
      </p:pic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3"/>
            <a:ext cx="43588" cy="47665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1"/>
            <a:ext cx="50031" cy="49266"/>
          </a:xfrm>
          <a:prstGeom prst="rect">
            <a:avLst/>
          </a:prstGeom>
        </p:spPr>
      </p:pic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49"/>
            <a:ext cx="63343" cy="63971"/>
          </a:xfrm>
          <a:prstGeom prst="rect">
            <a:avLst/>
          </a:prstGeom>
        </p:spPr>
      </p:pic>
      <p:pic>
        <p:nvPicPr>
          <p:cNvPr id="74" name="Image 41" descr="preencoded.png"/>
          <p:cNvPicPr>
            <a:picLocks noChangeAspect="1"/>
          </p:cNvPicPr>
          <p:nvPr/>
        </p:nvPicPr>
        <p:blipFill>
          <a:blip r:embed="rId42"/>
          <a:srcRect r="2" b="-2"/>
          <a:stretch/>
        </p:blipFill>
        <p:spPr>
          <a:xfrm>
            <a:off x="8818974" y="277989"/>
            <a:ext cx="53308" cy="52996"/>
          </a:xfrm>
          <a:prstGeom prst="rect">
            <a:avLst/>
          </a:prstGeom>
        </p:spPr>
      </p:pic>
      <p:pic>
        <p:nvPicPr>
          <p:cNvPr id="75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76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92024" y="27432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olos"/>
              </a:rPr>
              <a:t>Как это устроено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48840" y="2359152"/>
            <a:ext cx="365760" cy="45720"/>
          </a:xfrm>
          <a:prstGeom prst="rect">
            <a:avLst/>
          </a:prstGeom>
          <a:solidFill>
            <a:srgbClr val="B9A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4434840" y="2359152"/>
            <a:ext cx="365759" cy="45720"/>
          </a:xfrm>
          <a:prstGeom prst="rect">
            <a:avLst/>
          </a:prstGeom>
          <a:solidFill>
            <a:srgbClr val="B9A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629400" y="2359152"/>
            <a:ext cx="365759" cy="45720"/>
          </a:xfrm>
          <a:prstGeom prst="rect">
            <a:avLst/>
          </a:prstGeom>
          <a:solidFill>
            <a:srgbClr val="B9A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274320" y="1005840"/>
            <a:ext cx="192024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2468880" y="1005840"/>
            <a:ext cx="2011680" cy="2743200"/>
          </a:xfrm>
          <a:prstGeom prst="roundRect">
            <a:avLst>
              <a:gd name="adj" fmla="val 10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4754880" y="1005840"/>
            <a:ext cx="192024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6949440" y="1005840"/>
            <a:ext cx="192024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221991" y="2286000"/>
            <a:ext cx="219456" cy="219456"/>
          </a:xfrm>
          <a:prstGeom prst="ellipse">
            <a:avLst/>
          </a:prstGeom>
          <a:solidFill>
            <a:srgbClr val="2DD4B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4507992" y="2286000"/>
            <a:ext cx="219456" cy="219456"/>
          </a:xfrm>
          <a:prstGeom prst="ellipse">
            <a:avLst/>
          </a:prstGeom>
          <a:solidFill>
            <a:srgbClr val="2DD4B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702552" y="2286000"/>
            <a:ext cx="219456" cy="219456"/>
          </a:xfrm>
          <a:prstGeom prst="ellipse">
            <a:avLst/>
          </a:prstGeom>
          <a:solidFill>
            <a:srgbClr val="2DD4B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594359" y="11430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59" y="11430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Golos"/>
              </a:rPr>
              <a:t>ИСТОЧНИКИ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11479" y="1645920"/>
            <a:ext cx="1645920" cy="777240"/>
          </a:xfrm>
          <a:prstGeom prst="roundRect">
            <a:avLst>
              <a:gd name="adj" fmla="val 10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30352" y="1645920"/>
            <a:ext cx="1408176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Excel</a:t>
            </a:r>
          </a:p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ячейки и значения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11479" y="2606040"/>
            <a:ext cx="1645920" cy="777240"/>
          </a:xfrm>
          <a:prstGeom prst="roundRect">
            <a:avLst>
              <a:gd name="adj" fmla="val 10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30352" y="2606040"/>
            <a:ext cx="1408176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PostgreSQL</a:t>
            </a:r>
          </a:p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данные квартала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971800" y="11430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971800" y="11430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>
                <a:solidFill>
                  <a:srgbClr val="B9A8EE"/>
                </a:solidFill>
                <a:latin typeface="Golos"/>
              </a:rPr>
              <a:t>ЯДРО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51760" y="16459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olos"/>
              </a:rPr>
              <a:t>Планировщик</a:t>
            </a:r>
          </a:p>
        </p:txBody>
      </p:sp>
      <p:sp>
        <p:nvSpPr>
          <p:cNvPr id="97" name="Oval 96"/>
          <p:cNvSpPr/>
          <p:nvPr/>
        </p:nvSpPr>
        <p:spPr>
          <a:xfrm>
            <a:off x="2670048" y="2240280"/>
            <a:ext cx="128016" cy="1280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07792" y="21945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Golos"/>
              </a:rPr>
              <a:t>приоритеты</a:t>
            </a:r>
          </a:p>
        </p:txBody>
      </p:sp>
      <p:sp>
        <p:nvSpPr>
          <p:cNvPr id="99" name="Oval 98"/>
          <p:cNvSpPr/>
          <p:nvPr/>
        </p:nvSpPr>
        <p:spPr>
          <a:xfrm>
            <a:off x="2670048" y="2651760"/>
            <a:ext cx="128016" cy="1280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907792" y="26060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Golos"/>
              </a:rPr>
              <a:t>зависимости</a:t>
            </a:r>
          </a:p>
        </p:txBody>
      </p:sp>
      <p:sp>
        <p:nvSpPr>
          <p:cNvPr id="101" name="Oval 100"/>
          <p:cNvSpPr/>
          <p:nvPr/>
        </p:nvSpPr>
        <p:spPr>
          <a:xfrm>
            <a:off x="2670048" y="3063240"/>
            <a:ext cx="128016" cy="1280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907792" y="3017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Golos"/>
              </a:rPr>
              <a:t>причина решения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983480" y="1143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983480" y="11430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Golos"/>
              </a:rPr>
              <a:t>ИНТЕРФЕЙС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892040" y="1600200"/>
            <a:ext cx="1645920" cy="420624"/>
          </a:xfrm>
          <a:prstGeom prst="roundRect">
            <a:avLst>
              <a:gd name="adj" fmla="val 15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010912" y="1600200"/>
            <a:ext cx="140817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1">
                <a:solidFill>
                  <a:srgbClr val="2E1065"/>
                </a:solidFill>
                <a:latin typeface="Golos"/>
              </a:rPr>
              <a:t>Сводка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892040" y="2130552"/>
            <a:ext cx="1645920" cy="420624"/>
          </a:xfrm>
          <a:prstGeom prst="roundRect">
            <a:avLst>
              <a:gd name="adj" fmla="val 15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010912" y="2130552"/>
            <a:ext cx="140817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>
                <a:solidFill>
                  <a:srgbClr val="2E1065"/>
                </a:solidFill>
                <a:latin typeface="Golos"/>
              </a:rPr>
              <a:t>План по спринтам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892040" y="2660904"/>
            <a:ext cx="1645920" cy="420624"/>
          </a:xfrm>
          <a:prstGeom prst="roundRect">
            <a:avLst>
              <a:gd name="adj" fmla="val 15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010912" y="2660904"/>
            <a:ext cx="140817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>
                <a:solidFill>
                  <a:srgbClr val="2E1065"/>
                </a:solidFill>
                <a:latin typeface="Golos"/>
              </a:rPr>
              <a:t>Риски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892040" y="3191256"/>
            <a:ext cx="1645920" cy="420624"/>
          </a:xfrm>
          <a:prstGeom prst="roundRect">
            <a:avLst>
              <a:gd name="adj" fmla="val 15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010912" y="3191256"/>
            <a:ext cx="140817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>
                <a:solidFill>
                  <a:srgbClr val="2E1065"/>
                </a:solidFill>
                <a:latin typeface="Golos"/>
              </a:rPr>
              <a:t>Звёздная карта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132320" y="114300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132320" y="11430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Golos"/>
              </a:rPr>
              <a:t>ИИ-АССИСТЕНТ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32320" y="1645920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2E1065"/>
                </a:solidFill>
                <a:latin typeface="Golos"/>
              </a:rPr>
              <a:t>Сервер собирает факты и документы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132320" y="24688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Модель формулирует ответ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132320" y="320040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4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132320" y="320040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>
                <a:solidFill>
                  <a:srgbClr val="2E1065"/>
                </a:solidFill>
                <a:latin typeface="Golos"/>
              </a:rPr>
              <a:t>✓  числа проверены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4320" y="4005072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olos"/>
              </a:rPr>
              <a:t>viewer  ·  planner  ·  admin</a:t>
            </a:r>
          </a:p>
          <a:p>
            <a:pPr algn="l"/>
            <a:r>
              <a:rPr sz="1100" b="0">
                <a:solidFill>
                  <a:srgbClr val="EFE8FF"/>
                </a:solidFill>
                <a:latin typeface="Golos"/>
              </a:rPr>
              <a:t>Журнал действий сопровождает работу ролей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754880" y="4023360"/>
            <a:ext cx="4114800" cy="457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754880" y="402336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>
                <a:solidFill>
                  <a:srgbClr val="2E1065"/>
                </a:solidFill>
                <a:latin typeface="Golos"/>
              </a:rPr>
              <a:t>Ответ ссылается на реальные исходные данные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9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sp>
        <p:nvSpPr>
          <p:cNvPr id="33" name="Shape 30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71969" y="445126"/>
            <a:ext cx="15679" cy="2257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08031" y="445126"/>
            <a:ext cx="15365" cy="2257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49577" y="445126"/>
            <a:ext cx="15993" cy="2257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85638" y="445126"/>
            <a:ext cx="15365" cy="22578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622382" y="417100"/>
            <a:ext cx="24623" cy="15979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9"/>
          <a:srcRect b="-9"/>
          <a:stretch/>
        </p:blipFill>
        <p:spPr>
          <a:xfrm>
            <a:off x="8617059" y="428162"/>
            <a:ext cx="23871" cy="11080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44883" y="412565"/>
            <a:ext cx="9399" cy="10096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2"/>
          <a:srcRect r="10"/>
          <a:stretch/>
        </p:blipFill>
        <p:spPr>
          <a:xfrm>
            <a:off x="8705772" y="501571"/>
            <a:ext cx="10034" cy="13484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3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69710" y="457356"/>
            <a:ext cx="15679" cy="5017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8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19"/>
          <a:srcRect r="2"/>
          <a:stretch/>
        </p:blipFill>
        <p:spPr>
          <a:xfrm>
            <a:off x="8673837" y="553646"/>
            <a:ext cx="46661" cy="9229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1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8670651" y="432897"/>
            <a:ext cx="15679" cy="564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4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91283" y="556133"/>
            <a:ext cx="64911" cy="64597"/>
          </a:xfrm>
          <a:prstGeom prst="rect">
            <a:avLst/>
          </a:prstGeom>
        </p:spPr>
      </p:pic>
      <p:pic>
        <p:nvPicPr>
          <p:cNvPr id="59" name="Image 26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27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61" name="Image 28" descr="preencoded.png"/>
          <p:cNvPicPr>
            <a:picLocks noChangeAspect="1"/>
          </p:cNvPicPr>
          <p:nvPr/>
        </p:nvPicPr>
        <p:blipFill>
          <a:blip r:embed="rId28"/>
          <a:srcRect r="2" b="2"/>
          <a:stretch/>
        </p:blipFill>
        <p:spPr>
          <a:xfrm>
            <a:off x="8670023" y="643936"/>
            <a:ext cx="45155" cy="47977"/>
          </a:xfrm>
          <a:prstGeom prst="rect">
            <a:avLst/>
          </a:prstGeom>
        </p:spPr>
      </p:pic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29"/>
          <a:srcRect r="-2"/>
          <a:stretch/>
        </p:blipFill>
        <p:spPr>
          <a:xfrm>
            <a:off x="8729997" y="632401"/>
            <a:ext cx="51895" cy="49724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30"/>
          <a:srcRect r="2" b="-2"/>
          <a:stretch/>
        </p:blipFill>
        <p:spPr>
          <a:xfrm>
            <a:off x="8784166" y="596900"/>
            <a:ext cx="58639" cy="66166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8824618" y="552057"/>
            <a:ext cx="64911" cy="64284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66" name="Image 33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458357" y="356070"/>
            <a:ext cx="50843" cy="58013"/>
          </a:xfrm>
          <a:prstGeom prst="rect">
            <a:avLst/>
          </a:prstGeom>
        </p:spPr>
      </p:pic>
      <p:pic>
        <p:nvPicPr>
          <p:cNvPr id="67" name="Image 34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68" name="Image 35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519818" y="262622"/>
            <a:ext cx="64911" cy="65225"/>
          </a:xfrm>
          <a:prstGeom prst="rect">
            <a:avLst/>
          </a:prstGeom>
        </p:spPr>
      </p:pic>
      <p:pic>
        <p:nvPicPr>
          <p:cNvPr id="69" name="Image 36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625496" y="222484"/>
            <a:ext cx="46410" cy="53622"/>
          </a:xfrm>
          <a:prstGeom prst="rect">
            <a:avLst/>
          </a:prstGeom>
        </p:spPr>
      </p:pic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76923" y="221543"/>
            <a:ext cx="43588" cy="47665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725982" y="231031"/>
            <a:ext cx="50031" cy="49266"/>
          </a:xfrm>
          <a:prstGeom prst="rect">
            <a:avLst/>
          </a:prstGeom>
        </p:spPr>
      </p:pic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40"/>
          <a:srcRect b="-2"/>
          <a:stretch/>
        </p:blipFill>
        <p:spPr>
          <a:xfrm>
            <a:off x="8767860" y="244749"/>
            <a:ext cx="63343" cy="63971"/>
          </a:xfrm>
          <a:prstGeom prst="rect">
            <a:avLst/>
          </a:prstGeom>
        </p:spPr>
      </p:pic>
      <p:pic>
        <p:nvPicPr>
          <p:cNvPr id="74" name="Image 41" descr="preencoded.png"/>
          <p:cNvPicPr>
            <a:picLocks noChangeAspect="1"/>
          </p:cNvPicPr>
          <p:nvPr/>
        </p:nvPicPr>
        <p:blipFill>
          <a:blip r:embed="rId41"/>
          <a:srcRect r="2" b="-2"/>
          <a:stretch/>
        </p:blipFill>
        <p:spPr>
          <a:xfrm>
            <a:off x="8818974" y="277989"/>
            <a:ext cx="53308" cy="52996"/>
          </a:xfrm>
          <a:prstGeom prst="rect">
            <a:avLst/>
          </a:prstGeom>
        </p:spPr>
      </p:pic>
      <p:pic>
        <p:nvPicPr>
          <p:cNvPr id="75" name="Image 42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76" name="Image 43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92024" y="27432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olos"/>
              </a:rPr>
              <a:t>Цепочка решений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42416" y="1764792"/>
            <a:ext cx="7059168" cy="54864"/>
          </a:xfrm>
          <a:prstGeom prst="rect">
            <a:avLst/>
          </a:prstGeom>
          <a:solidFill>
            <a:srgbClr val="B9A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740664" y="1481328"/>
            <a:ext cx="603504" cy="603504"/>
          </a:xfrm>
          <a:prstGeom prst="ellipse">
            <a:avLst/>
          </a:prstGeom>
          <a:solidFill>
            <a:srgbClr val="B9A8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40664" y="148132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2E1065"/>
                </a:solidFill>
                <a:latin typeface="Golos"/>
              </a:rPr>
              <a:t>01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01168" y="2331720"/>
            <a:ext cx="1682496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10896" y="246888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Жадный планировщик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0896" y="320040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Быстрый расчёт, понятные решения</a:t>
            </a:r>
          </a:p>
        </p:txBody>
      </p:sp>
      <p:sp>
        <p:nvSpPr>
          <p:cNvPr id="84" name="Oval 83"/>
          <p:cNvSpPr/>
          <p:nvPr/>
        </p:nvSpPr>
        <p:spPr>
          <a:xfrm>
            <a:off x="2505456" y="1481328"/>
            <a:ext cx="603504" cy="603504"/>
          </a:xfrm>
          <a:prstGeom prst="ellipse">
            <a:avLst/>
          </a:prstGeom>
          <a:solidFill>
            <a:srgbClr val="7DB9E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505456" y="148132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2E1065"/>
                </a:solidFill>
                <a:latin typeface="Golos"/>
              </a:rPr>
              <a:t>02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965960" y="2331720"/>
            <a:ext cx="1682496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075688" y="246888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Сценарий кадровых мер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75688" y="320040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Роль не замещаем, а дообучаем</a:t>
            </a:r>
          </a:p>
        </p:txBody>
      </p:sp>
      <p:sp>
        <p:nvSpPr>
          <p:cNvPr id="89" name="Oval 88"/>
          <p:cNvSpPr/>
          <p:nvPr/>
        </p:nvSpPr>
        <p:spPr>
          <a:xfrm>
            <a:off x="4270248" y="1481328"/>
            <a:ext cx="603504" cy="603504"/>
          </a:xfrm>
          <a:prstGeom prst="ellipse">
            <a:avLst/>
          </a:prstGeom>
          <a:solidFill>
            <a:srgbClr val="5BD6B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270248" y="148132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2E1065"/>
                </a:solidFill>
                <a:latin typeface="Golos"/>
              </a:rPr>
              <a:t>03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730752" y="2331720"/>
            <a:ext cx="1682496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840480" y="246888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Причина у задачи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40480" y="320040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Почему вошла, ушла или перенесена</a:t>
            </a:r>
          </a:p>
        </p:txBody>
      </p:sp>
      <p:sp>
        <p:nvSpPr>
          <p:cNvPr id="94" name="Oval 93"/>
          <p:cNvSpPr/>
          <p:nvPr/>
        </p:nvSpPr>
        <p:spPr>
          <a:xfrm>
            <a:off x="6035040" y="1481328"/>
            <a:ext cx="603504" cy="603504"/>
          </a:xfrm>
          <a:prstGeom prst="ellipse">
            <a:avLst/>
          </a:prstGeom>
          <a:solidFill>
            <a:srgbClr val="F2BE6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035040" y="148132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2E1065"/>
                </a:solidFill>
                <a:latin typeface="Golos"/>
              </a:rPr>
              <a:t>04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495544" y="2331720"/>
            <a:ext cx="1682496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605272" y="246888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Меньше перегруза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05272" y="320040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Спросите словами, получите ответ</a:t>
            </a:r>
          </a:p>
        </p:txBody>
      </p:sp>
      <p:sp>
        <p:nvSpPr>
          <p:cNvPr id="99" name="Oval 98"/>
          <p:cNvSpPr/>
          <p:nvPr/>
        </p:nvSpPr>
        <p:spPr>
          <a:xfrm>
            <a:off x="7799832" y="1481328"/>
            <a:ext cx="603504" cy="603504"/>
          </a:xfrm>
          <a:prstGeom prst="ellipse">
            <a:avLst/>
          </a:prstGeom>
          <a:solidFill>
            <a:srgbClr val="F08FA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799832" y="148132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2E1065"/>
                </a:solidFill>
                <a:latin typeface="Golos"/>
              </a:rPr>
              <a:t>05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260336" y="2331720"/>
            <a:ext cx="1682496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370064" y="246888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Проверяемые числа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70064" y="320040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Серверные факты, ссылки на источник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01168" y="4114800"/>
            <a:ext cx="8741664" cy="4206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01168" y="4114800"/>
            <a:ext cx="874166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>
                <a:solidFill>
                  <a:srgbClr val="2E1065"/>
                </a:solidFill>
                <a:latin typeface="Golos"/>
              </a:rPr>
              <a:t>Результат: план можно объяснить, перепроверить и обсудить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114032" y="146304"/>
            <a:ext cx="1883664" cy="621792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71969" y="445126"/>
            <a:ext cx="15679" cy="2257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08031" y="445126"/>
            <a:ext cx="15365" cy="2257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49577" y="445126"/>
            <a:ext cx="15993" cy="2257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85638" y="445126"/>
            <a:ext cx="15365" cy="22578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22382" y="417100"/>
            <a:ext cx="24623" cy="15979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2"/>
          <a:srcRect b="-9"/>
          <a:stretch/>
        </p:blipFill>
        <p:spPr>
          <a:xfrm>
            <a:off x="8617059" y="428162"/>
            <a:ext cx="23871" cy="11080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644883" y="412565"/>
            <a:ext cx="9399" cy="10096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5"/>
          <a:srcRect r="10"/>
          <a:stretch/>
        </p:blipFill>
        <p:spPr>
          <a:xfrm>
            <a:off x="8705772" y="501571"/>
            <a:ext cx="10034" cy="13484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6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669710" y="457356"/>
            <a:ext cx="15679" cy="5017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21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2"/>
          <a:srcRect r="2"/>
          <a:stretch/>
        </p:blipFill>
        <p:spPr>
          <a:xfrm>
            <a:off x="8673837" y="553646"/>
            <a:ext cx="46661" cy="9229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4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8670651" y="432897"/>
            <a:ext cx="15679" cy="564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7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8"/>
          <a:srcRect b="2"/>
          <a:stretch/>
        </p:blipFill>
        <p:spPr>
          <a:xfrm>
            <a:off x="8491283" y="556133"/>
            <a:ext cx="64911" cy="64597"/>
          </a:xfrm>
          <a:prstGeom prst="rect">
            <a:avLst/>
          </a:prstGeom>
        </p:spPr>
      </p:pic>
      <p:pic>
        <p:nvPicPr>
          <p:cNvPr id="59" name="Image 26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61" name="Image 28" descr="preencoded.png"/>
          <p:cNvPicPr>
            <a:picLocks noChangeAspect="1"/>
          </p:cNvPicPr>
          <p:nvPr/>
        </p:nvPicPr>
        <p:blipFill>
          <a:blip r:embed="rId31"/>
          <a:srcRect r="2" b="2"/>
          <a:stretch/>
        </p:blipFill>
        <p:spPr>
          <a:xfrm>
            <a:off x="8670023" y="643936"/>
            <a:ext cx="45155" cy="47977"/>
          </a:xfrm>
          <a:prstGeom prst="rect">
            <a:avLst/>
          </a:prstGeom>
        </p:spPr>
      </p:pic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32"/>
          <a:srcRect r="-2"/>
          <a:stretch/>
        </p:blipFill>
        <p:spPr>
          <a:xfrm>
            <a:off x="8729997" y="632401"/>
            <a:ext cx="51895" cy="49724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33"/>
          <a:srcRect r="2" b="-2"/>
          <a:stretch/>
        </p:blipFill>
        <p:spPr>
          <a:xfrm>
            <a:off x="8784166" y="596900"/>
            <a:ext cx="58639" cy="66166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824618" y="552057"/>
            <a:ext cx="64911" cy="64284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66" name="Image 33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458357" y="356070"/>
            <a:ext cx="50843" cy="58013"/>
          </a:xfrm>
          <a:prstGeom prst="rect">
            <a:avLst/>
          </a:prstGeom>
        </p:spPr>
      </p:pic>
      <p:pic>
        <p:nvPicPr>
          <p:cNvPr id="67" name="Image 34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68" name="Image 35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519818" y="262622"/>
            <a:ext cx="64911" cy="65225"/>
          </a:xfrm>
          <a:prstGeom prst="rect">
            <a:avLst/>
          </a:prstGeom>
        </p:spPr>
      </p:pic>
      <p:pic>
        <p:nvPicPr>
          <p:cNvPr id="69" name="Image 36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625496" y="222484"/>
            <a:ext cx="46410" cy="53622"/>
          </a:xfrm>
          <a:prstGeom prst="rect">
            <a:avLst/>
          </a:prstGeom>
        </p:spPr>
      </p:pic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41"/>
          <a:srcRect/>
          <a:stretch/>
        </p:blipFill>
        <p:spPr>
          <a:xfrm>
            <a:off x="8676923" y="221543"/>
            <a:ext cx="43588" cy="47665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8725982" y="231031"/>
            <a:ext cx="50031" cy="49266"/>
          </a:xfrm>
          <a:prstGeom prst="rect">
            <a:avLst/>
          </a:prstGeom>
        </p:spPr>
      </p:pic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43"/>
          <a:srcRect b="-2"/>
          <a:stretch/>
        </p:blipFill>
        <p:spPr>
          <a:xfrm>
            <a:off x="8767860" y="244749"/>
            <a:ext cx="63343" cy="63971"/>
          </a:xfrm>
          <a:prstGeom prst="rect">
            <a:avLst/>
          </a:prstGeom>
        </p:spPr>
      </p:pic>
      <p:pic>
        <p:nvPicPr>
          <p:cNvPr id="74" name="Image 41" descr="preencoded.png"/>
          <p:cNvPicPr>
            <a:picLocks noChangeAspect="1"/>
          </p:cNvPicPr>
          <p:nvPr/>
        </p:nvPicPr>
        <p:blipFill>
          <a:blip r:embed="rId44"/>
          <a:srcRect r="2" b="-2"/>
          <a:stretch/>
        </p:blipFill>
        <p:spPr>
          <a:xfrm>
            <a:off x="8818974" y="277989"/>
            <a:ext cx="53308" cy="52996"/>
          </a:xfrm>
          <a:prstGeom prst="rect">
            <a:avLst/>
          </a:prstGeom>
        </p:spPr>
      </p:pic>
      <p:pic>
        <p:nvPicPr>
          <p:cNvPr id="75" name="Image 42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76" name="Image 43" descr="preencoded.png"/>
          <p:cNvPicPr>
            <a:picLocks noChangeAspect="1"/>
          </p:cNvPicPr>
          <p:nvPr/>
        </p:nvPicPr>
        <p:blipFill>
          <a:blip r:embed="rId46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92024" y="27432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2E1065"/>
                </a:solidFill>
                <a:latin typeface="Golos"/>
              </a:rPr>
              <a:t>Что внутри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92024" y="960120"/>
            <a:ext cx="5705855" cy="3265551"/>
          </a:xfrm>
          <a:prstGeom prst="roundRect">
            <a:avLst>
              <a:gd name="adj" fmla="val 3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9" name="violet_demo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7"/>
          <a:stretch>
            <a:fillRect/>
          </a:stretch>
        </p:blipFill>
        <p:spPr>
          <a:xfrm>
            <a:off x="256032" y="1024128"/>
            <a:ext cx="5577840" cy="3137535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6126480" y="1005840"/>
            <a:ext cx="28346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72784" y="107899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Сводка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72784" y="137160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главное за квартал на одном экране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26480" y="1828800"/>
            <a:ext cx="28346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272784" y="190195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План по спринтам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72784" y="219456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у каждой задачи видна причина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26480" y="2651760"/>
            <a:ext cx="28346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72784" y="27249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Риски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72784" y="301752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что и в каком спринте срывается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26480" y="3474720"/>
            <a:ext cx="28346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272784" y="354787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Звёздная карта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72784" y="384048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команды, люди, Bus Factor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9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71969" y="445126"/>
            <a:ext cx="15679" cy="2257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08031" y="445126"/>
            <a:ext cx="15365" cy="2257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49577" y="445126"/>
            <a:ext cx="15993" cy="2257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85638" y="445126"/>
            <a:ext cx="15365" cy="22578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22382" y="417100"/>
            <a:ext cx="24623" cy="15979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2"/>
          <a:srcRect b="-9"/>
          <a:stretch/>
        </p:blipFill>
        <p:spPr>
          <a:xfrm>
            <a:off x="8617059" y="428162"/>
            <a:ext cx="23871" cy="11080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644883" y="412565"/>
            <a:ext cx="9399" cy="10096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5"/>
          <a:srcRect r="10"/>
          <a:stretch/>
        </p:blipFill>
        <p:spPr>
          <a:xfrm>
            <a:off x="8705772" y="501571"/>
            <a:ext cx="10034" cy="13484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6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669710" y="457356"/>
            <a:ext cx="15679" cy="5017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21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2"/>
          <a:srcRect r="2"/>
          <a:stretch/>
        </p:blipFill>
        <p:spPr>
          <a:xfrm>
            <a:off x="8673837" y="553646"/>
            <a:ext cx="46661" cy="9229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4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8670651" y="432897"/>
            <a:ext cx="15679" cy="564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7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8"/>
          <a:srcRect b="2"/>
          <a:stretch/>
        </p:blipFill>
        <p:spPr>
          <a:xfrm>
            <a:off x="8491283" y="556133"/>
            <a:ext cx="64911" cy="64597"/>
          </a:xfrm>
          <a:prstGeom prst="rect">
            <a:avLst/>
          </a:prstGeom>
        </p:spPr>
      </p:pic>
      <p:pic>
        <p:nvPicPr>
          <p:cNvPr id="59" name="Image 26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61" name="Image 28" descr="preencoded.png"/>
          <p:cNvPicPr>
            <a:picLocks noChangeAspect="1"/>
          </p:cNvPicPr>
          <p:nvPr/>
        </p:nvPicPr>
        <p:blipFill>
          <a:blip r:embed="rId31"/>
          <a:srcRect r="2" b="2"/>
          <a:stretch/>
        </p:blipFill>
        <p:spPr>
          <a:xfrm>
            <a:off x="8670023" y="643936"/>
            <a:ext cx="45155" cy="47977"/>
          </a:xfrm>
          <a:prstGeom prst="rect">
            <a:avLst/>
          </a:prstGeom>
        </p:spPr>
      </p:pic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32"/>
          <a:srcRect r="-2"/>
          <a:stretch/>
        </p:blipFill>
        <p:spPr>
          <a:xfrm>
            <a:off x="8729997" y="632401"/>
            <a:ext cx="51895" cy="49724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33"/>
          <a:srcRect r="2" b="-2"/>
          <a:stretch/>
        </p:blipFill>
        <p:spPr>
          <a:xfrm>
            <a:off x="8784166" y="596900"/>
            <a:ext cx="58639" cy="66166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824618" y="552057"/>
            <a:ext cx="64911" cy="64284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66" name="Image 33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458357" y="356070"/>
            <a:ext cx="50843" cy="58013"/>
          </a:xfrm>
          <a:prstGeom prst="rect">
            <a:avLst/>
          </a:prstGeom>
        </p:spPr>
      </p:pic>
      <p:pic>
        <p:nvPicPr>
          <p:cNvPr id="67" name="Image 34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68" name="Image 35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519818" y="262622"/>
            <a:ext cx="64911" cy="65225"/>
          </a:xfrm>
          <a:prstGeom prst="rect">
            <a:avLst/>
          </a:prstGeom>
        </p:spPr>
      </p:pic>
      <p:pic>
        <p:nvPicPr>
          <p:cNvPr id="69" name="Image 36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625496" y="222484"/>
            <a:ext cx="46410" cy="53622"/>
          </a:xfrm>
          <a:prstGeom prst="rect">
            <a:avLst/>
          </a:prstGeom>
        </p:spPr>
      </p:pic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41"/>
          <a:srcRect/>
          <a:stretch/>
        </p:blipFill>
        <p:spPr>
          <a:xfrm>
            <a:off x="8676923" y="221543"/>
            <a:ext cx="43588" cy="47665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8725982" y="231031"/>
            <a:ext cx="50031" cy="49266"/>
          </a:xfrm>
          <a:prstGeom prst="rect">
            <a:avLst/>
          </a:prstGeom>
        </p:spPr>
      </p:pic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43"/>
          <a:srcRect b="-2"/>
          <a:stretch/>
        </p:blipFill>
        <p:spPr>
          <a:xfrm>
            <a:off x="8767860" y="244749"/>
            <a:ext cx="63343" cy="63971"/>
          </a:xfrm>
          <a:prstGeom prst="rect">
            <a:avLst/>
          </a:prstGeom>
        </p:spPr>
      </p:pic>
      <p:pic>
        <p:nvPicPr>
          <p:cNvPr id="74" name="Image 41" descr="preencoded.png"/>
          <p:cNvPicPr>
            <a:picLocks noChangeAspect="1"/>
          </p:cNvPicPr>
          <p:nvPr/>
        </p:nvPicPr>
        <p:blipFill>
          <a:blip r:embed="rId44"/>
          <a:srcRect r="2" b="-2"/>
          <a:stretch/>
        </p:blipFill>
        <p:spPr>
          <a:xfrm>
            <a:off x="8818974" y="277989"/>
            <a:ext cx="53308" cy="52996"/>
          </a:xfrm>
          <a:prstGeom prst="rect">
            <a:avLst/>
          </a:prstGeom>
        </p:spPr>
      </p:pic>
      <p:pic>
        <p:nvPicPr>
          <p:cNvPr id="75" name="Image 42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76" name="Image 43" descr="preencoded.png"/>
          <p:cNvPicPr>
            <a:picLocks noChangeAspect="1"/>
          </p:cNvPicPr>
          <p:nvPr/>
        </p:nvPicPr>
        <p:blipFill>
          <a:blip r:embed="rId46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92024" y="27432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EFE8FF"/>
                </a:solidFill>
                <a:latin typeface="Golos"/>
              </a:rPr>
              <a:t>Спросите словами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92024" y="960120"/>
            <a:ext cx="5705855" cy="3265551"/>
          </a:xfrm>
          <a:prstGeom prst="roundRect">
            <a:avLst>
              <a:gd name="adj" fmla="val 3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9" name="violet_assistant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7"/>
          <a:stretch>
            <a:fillRect/>
          </a:stretch>
        </p:blipFill>
        <p:spPr>
          <a:xfrm>
            <a:off x="256032" y="1024128"/>
            <a:ext cx="5577840" cy="3137535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6126480" y="1005840"/>
            <a:ext cx="2834640" cy="713232"/>
          </a:xfrm>
          <a:prstGeom prst="roundRect">
            <a:avLst>
              <a:gd name="adj" fmla="val 14000"/>
            </a:avLst>
          </a:prstGeom>
          <a:solidFill>
            <a:srgbClr val="241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72784" y="107899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FE8FF"/>
                </a:solidFill>
                <a:latin typeface="Golos"/>
              </a:rPr>
              <a:t>Ответ по вашим данным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72784" y="137160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9A8EE"/>
                </a:solidFill>
                <a:latin typeface="Golos"/>
              </a:rPr>
              <a:t>о прогоне, а не «вообще»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26480" y="1828800"/>
            <a:ext cx="2834640" cy="713232"/>
          </a:xfrm>
          <a:prstGeom prst="roundRect">
            <a:avLst>
              <a:gd name="adj" fmla="val 14000"/>
            </a:avLst>
          </a:prstGeom>
          <a:solidFill>
            <a:srgbClr val="241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272784" y="190195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FE8FF"/>
                </a:solidFill>
                <a:latin typeface="Golos"/>
              </a:rPr>
              <a:t>Числа берёт сервер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72784" y="219456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9A8EE"/>
                </a:solidFill>
                <a:latin typeface="Golos"/>
              </a:rPr>
              <a:t>не модель: выдумать цифру нельзя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26480" y="2651760"/>
            <a:ext cx="2834640" cy="713232"/>
          </a:xfrm>
          <a:prstGeom prst="roundRect">
            <a:avLst>
              <a:gd name="adj" fmla="val 14000"/>
            </a:avLst>
          </a:prstGeom>
          <a:solidFill>
            <a:srgbClr val="241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72784" y="27249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FE8FF"/>
                </a:solidFill>
                <a:latin typeface="Golos"/>
              </a:rPr>
              <a:t>Ответ с доказательством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72784" y="301752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9A8EE"/>
                </a:solidFill>
                <a:latin typeface="Golos"/>
              </a:rPr>
              <a:t>можно открыть исходные данные</a:t>
            </a:r>
          </a:p>
        </p:txBody>
      </p:sp>
      <p:pic>
        <p:nvPicPr>
          <p:cNvPr id="2" name="Image 50" descr="preencoded.png"/>
          <p:cNvPicPr>
            <a:picLocks noChangeAspect="1"/>
          </p:cNvPicPr>
          <p:nvPr/>
        </p:nvPicPr>
        <p:blipFill>
          <a:blip r:embed="rId48"/>
          <a:srcRect b="8672"/>
          <a:stretch/>
        </p:blipFill>
        <p:spPr>
          <a:xfrm>
            <a:off x="7589520" y="3703320"/>
            <a:ext cx="1371600" cy="12526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9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9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71969" y="445126"/>
            <a:ext cx="15679" cy="2257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08031" y="445126"/>
            <a:ext cx="15365" cy="2257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49577" y="445126"/>
            <a:ext cx="15993" cy="2257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85638" y="445126"/>
            <a:ext cx="15365" cy="22578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622382" y="417100"/>
            <a:ext cx="24623" cy="15979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9"/>
          <a:srcRect b="-9"/>
          <a:stretch/>
        </p:blipFill>
        <p:spPr>
          <a:xfrm>
            <a:off x="8617059" y="428162"/>
            <a:ext cx="23871" cy="11080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44883" y="412565"/>
            <a:ext cx="9399" cy="10096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2"/>
          <a:srcRect r="10"/>
          <a:stretch/>
        </p:blipFill>
        <p:spPr>
          <a:xfrm>
            <a:off x="8705772" y="501571"/>
            <a:ext cx="10034" cy="13484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3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69710" y="457356"/>
            <a:ext cx="15679" cy="5017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8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19"/>
          <a:srcRect r="2"/>
          <a:stretch/>
        </p:blipFill>
        <p:spPr>
          <a:xfrm>
            <a:off x="8673837" y="553646"/>
            <a:ext cx="46661" cy="9229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1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8670651" y="432897"/>
            <a:ext cx="15679" cy="564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4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91283" y="556133"/>
            <a:ext cx="64911" cy="64597"/>
          </a:xfrm>
          <a:prstGeom prst="rect">
            <a:avLst/>
          </a:prstGeom>
        </p:spPr>
      </p:pic>
      <p:pic>
        <p:nvPicPr>
          <p:cNvPr id="59" name="Image 26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27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61" name="Image 28" descr="preencoded.png"/>
          <p:cNvPicPr>
            <a:picLocks noChangeAspect="1"/>
          </p:cNvPicPr>
          <p:nvPr/>
        </p:nvPicPr>
        <p:blipFill>
          <a:blip r:embed="rId28"/>
          <a:srcRect r="2" b="2"/>
          <a:stretch/>
        </p:blipFill>
        <p:spPr>
          <a:xfrm>
            <a:off x="8670023" y="643936"/>
            <a:ext cx="45155" cy="47977"/>
          </a:xfrm>
          <a:prstGeom prst="rect">
            <a:avLst/>
          </a:prstGeom>
        </p:spPr>
      </p:pic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29"/>
          <a:srcRect r="-2"/>
          <a:stretch/>
        </p:blipFill>
        <p:spPr>
          <a:xfrm>
            <a:off x="8729997" y="632401"/>
            <a:ext cx="51895" cy="49724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30"/>
          <a:srcRect r="2" b="-2"/>
          <a:stretch/>
        </p:blipFill>
        <p:spPr>
          <a:xfrm>
            <a:off x="8784166" y="596900"/>
            <a:ext cx="58639" cy="66166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8824618" y="552057"/>
            <a:ext cx="64911" cy="64284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66" name="Image 33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458357" y="356070"/>
            <a:ext cx="50843" cy="58013"/>
          </a:xfrm>
          <a:prstGeom prst="rect">
            <a:avLst/>
          </a:prstGeom>
        </p:spPr>
      </p:pic>
      <p:pic>
        <p:nvPicPr>
          <p:cNvPr id="67" name="Image 34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68" name="Image 35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519818" y="262622"/>
            <a:ext cx="64911" cy="65225"/>
          </a:xfrm>
          <a:prstGeom prst="rect">
            <a:avLst/>
          </a:prstGeom>
        </p:spPr>
      </p:pic>
      <p:pic>
        <p:nvPicPr>
          <p:cNvPr id="69" name="Image 36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625496" y="222484"/>
            <a:ext cx="46410" cy="53622"/>
          </a:xfrm>
          <a:prstGeom prst="rect">
            <a:avLst/>
          </a:prstGeom>
        </p:spPr>
      </p:pic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76923" y="221543"/>
            <a:ext cx="43588" cy="47665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725982" y="231031"/>
            <a:ext cx="50031" cy="49266"/>
          </a:xfrm>
          <a:prstGeom prst="rect">
            <a:avLst/>
          </a:prstGeom>
        </p:spPr>
      </p:pic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40"/>
          <a:srcRect b="-2"/>
          <a:stretch/>
        </p:blipFill>
        <p:spPr>
          <a:xfrm>
            <a:off x="8767860" y="244749"/>
            <a:ext cx="63343" cy="63971"/>
          </a:xfrm>
          <a:prstGeom prst="rect">
            <a:avLst/>
          </a:prstGeom>
        </p:spPr>
      </p:pic>
      <p:pic>
        <p:nvPicPr>
          <p:cNvPr id="74" name="Image 41" descr="preencoded.png"/>
          <p:cNvPicPr>
            <a:picLocks noChangeAspect="1"/>
          </p:cNvPicPr>
          <p:nvPr/>
        </p:nvPicPr>
        <p:blipFill>
          <a:blip r:embed="rId41"/>
          <a:srcRect r="2" b="-2"/>
          <a:stretch/>
        </p:blipFill>
        <p:spPr>
          <a:xfrm>
            <a:off x="8818974" y="277989"/>
            <a:ext cx="53308" cy="52996"/>
          </a:xfrm>
          <a:prstGeom prst="rect">
            <a:avLst/>
          </a:prstGeom>
        </p:spPr>
      </p:pic>
      <p:pic>
        <p:nvPicPr>
          <p:cNvPr id="75" name="Image 42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76" name="Image 43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92024" y="27432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olos"/>
              </a:rPr>
              <a:t>Пример диалога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01168" y="960120"/>
            <a:ext cx="54864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11480" y="1115568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B5A9E"/>
                </a:solidFill>
                <a:latin typeface="Golos"/>
              </a:rPr>
              <a:t>ЧАТ ПО ДАННЫМ ПРОЕКТА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828800" y="1554480"/>
            <a:ext cx="3703320" cy="6858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011680" y="1554480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olos"/>
              </a:rPr>
              <a:t>Почему ANL-3042 не попала в план?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11480" y="2468880"/>
            <a:ext cx="4480560" cy="914400"/>
          </a:xfrm>
          <a:prstGeom prst="roundRect">
            <a:avLst>
              <a:gd name="adj" fmla="val 12000"/>
            </a:avLst>
          </a:prstGeom>
          <a:solidFill>
            <a:srgbClr val="E4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94360" y="246888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E1065"/>
                </a:solidFill>
                <a:latin typeface="Golos"/>
              </a:rPr>
              <a:t>Задача перенесена: её зависимость ANL-3018 не завершена в текущем квартале.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11480" y="36118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11480" y="3611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Golos"/>
              </a:rPr>
              <a:t>ОТКРЫТЬ ИСТОЧНИК  ↗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897880" y="960120"/>
            <a:ext cx="304495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035040" y="1261872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035040" y="12618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1065"/>
                </a:solidFill>
                <a:latin typeface="Golos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83680" y="10515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Ответ по прогону</a:t>
            </a:r>
          </a:p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контекст — ваши данные, не общий ответ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897880" y="2103120"/>
            <a:ext cx="304495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6035040" y="2404872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035040" y="24048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1065"/>
                </a:solidFill>
                <a:latin typeface="Golos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83680" y="21945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Числа берёт сервер</a:t>
            </a:r>
          </a:p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модель не придумывает показатели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897880" y="3246120"/>
            <a:ext cx="304495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035040" y="3547872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035040" y="35478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1065"/>
                </a:solidFill>
                <a:latin typeface="Golos"/>
              </a:rPr>
              <a:t>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83680" y="33375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Ссылка проверяема</a:t>
            </a:r>
          </a:p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можно открыть исходный факт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01168" y="4434840"/>
            <a:ext cx="8741664" cy="4206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01168" y="4434840"/>
            <a:ext cx="874166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E1065"/>
                </a:solidFill>
                <a:latin typeface="Golos"/>
              </a:rPr>
              <a:t>Ответ привязан к конкретному прогону и исходным данным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114032" y="146304"/>
            <a:ext cx="1883664" cy="621792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71969" y="445126"/>
            <a:ext cx="15679" cy="2257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08031" y="445126"/>
            <a:ext cx="15365" cy="2257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49577" y="445126"/>
            <a:ext cx="15993" cy="2257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85638" y="445126"/>
            <a:ext cx="15365" cy="22578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22382" y="417100"/>
            <a:ext cx="24623" cy="15979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2"/>
          <a:srcRect b="-9"/>
          <a:stretch/>
        </p:blipFill>
        <p:spPr>
          <a:xfrm>
            <a:off x="8617059" y="428162"/>
            <a:ext cx="23871" cy="11080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644883" y="412565"/>
            <a:ext cx="9399" cy="10096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5"/>
          <a:srcRect r="10"/>
          <a:stretch/>
        </p:blipFill>
        <p:spPr>
          <a:xfrm>
            <a:off x="8705772" y="501571"/>
            <a:ext cx="10034" cy="13484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6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669710" y="457356"/>
            <a:ext cx="15679" cy="5017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21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2"/>
          <a:srcRect r="2"/>
          <a:stretch/>
        </p:blipFill>
        <p:spPr>
          <a:xfrm>
            <a:off x="8673837" y="553646"/>
            <a:ext cx="46661" cy="9229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4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8670651" y="432897"/>
            <a:ext cx="15679" cy="564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7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8"/>
          <a:srcRect b="2"/>
          <a:stretch/>
        </p:blipFill>
        <p:spPr>
          <a:xfrm>
            <a:off x="8491283" y="556133"/>
            <a:ext cx="64911" cy="64597"/>
          </a:xfrm>
          <a:prstGeom prst="rect">
            <a:avLst/>
          </a:prstGeom>
        </p:spPr>
      </p:pic>
      <p:pic>
        <p:nvPicPr>
          <p:cNvPr id="59" name="Image 26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61" name="Image 28" descr="preencoded.png"/>
          <p:cNvPicPr>
            <a:picLocks noChangeAspect="1"/>
          </p:cNvPicPr>
          <p:nvPr/>
        </p:nvPicPr>
        <p:blipFill>
          <a:blip r:embed="rId31"/>
          <a:srcRect r="2" b="2"/>
          <a:stretch/>
        </p:blipFill>
        <p:spPr>
          <a:xfrm>
            <a:off x="8670023" y="643936"/>
            <a:ext cx="45155" cy="47977"/>
          </a:xfrm>
          <a:prstGeom prst="rect">
            <a:avLst/>
          </a:prstGeom>
        </p:spPr>
      </p:pic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32"/>
          <a:srcRect r="-2"/>
          <a:stretch/>
        </p:blipFill>
        <p:spPr>
          <a:xfrm>
            <a:off x="8729997" y="632401"/>
            <a:ext cx="51895" cy="49724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33"/>
          <a:srcRect r="2" b="-2"/>
          <a:stretch/>
        </p:blipFill>
        <p:spPr>
          <a:xfrm>
            <a:off x="8784166" y="596900"/>
            <a:ext cx="58639" cy="66166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824618" y="552057"/>
            <a:ext cx="64911" cy="64284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66" name="Image 33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458357" y="356070"/>
            <a:ext cx="50843" cy="58013"/>
          </a:xfrm>
          <a:prstGeom prst="rect">
            <a:avLst/>
          </a:prstGeom>
        </p:spPr>
      </p:pic>
      <p:pic>
        <p:nvPicPr>
          <p:cNvPr id="67" name="Image 34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68" name="Image 35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519818" y="262622"/>
            <a:ext cx="64911" cy="65225"/>
          </a:xfrm>
          <a:prstGeom prst="rect">
            <a:avLst/>
          </a:prstGeom>
        </p:spPr>
      </p:pic>
      <p:pic>
        <p:nvPicPr>
          <p:cNvPr id="69" name="Image 36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625496" y="222484"/>
            <a:ext cx="46410" cy="53622"/>
          </a:xfrm>
          <a:prstGeom prst="rect">
            <a:avLst/>
          </a:prstGeom>
        </p:spPr>
      </p:pic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41"/>
          <a:srcRect/>
          <a:stretch/>
        </p:blipFill>
        <p:spPr>
          <a:xfrm>
            <a:off x="8676923" y="221543"/>
            <a:ext cx="43588" cy="47665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8725982" y="231031"/>
            <a:ext cx="50031" cy="49266"/>
          </a:xfrm>
          <a:prstGeom prst="rect">
            <a:avLst/>
          </a:prstGeom>
        </p:spPr>
      </p:pic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43"/>
          <a:srcRect b="-2"/>
          <a:stretch/>
        </p:blipFill>
        <p:spPr>
          <a:xfrm>
            <a:off x="8767860" y="244749"/>
            <a:ext cx="63343" cy="63971"/>
          </a:xfrm>
          <a:prstGeom prst="rect">
            <a:avLst/>
          </a:prstGeom>
        </p:spPr>
      </p:pic>
      <p:pic>
        <p:nvPicPr>
          <p:cNvPr id="74" name="Image 41" descr="preencoded.png"/>
          <p:cNvPicPr>
            <a:picLocks noChangeAspect="1"/>
          </p:cNvPicPr>
          <p:nvPr/>
        </p:nvPicPr>
        <p:blipFill>
          <a:blip r:embed="rId44"/>
          <a:srcRect r="2" b="-2"/>
          <a:stretch/>
        </p:blipFill>
        <p:spPr>
          <a:xfrm>
            <a:off x="8818974" y="277989"/>
            <a:ext cx="53308" cy="52996"/>
          </a:xfrm>
          <a:prstGeom prst="rect">
            <a:avLst/>
          </a:prstGeom>
        </p:spPr>
      </p:pic>
      <p:pic>
        <p:nvPicPr>
          <p:cNvPr id="75" name="Image 42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76" name="Image 43" descr="preencoded.png"/>
          <p:cNvPicPr>
            <a:picLocks noChangeAspect="1"/>
          </p:cNvPicPr>
          <p:nvPr/>
        </p:nvPicPr>
        <p:blipFill>
          <a:blip r:embed="rId46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92024" y="27432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2E1065"/>
                </a:solidFill>
                <a:latin typeface="Golos"/>
              </a:rPr>
              <a:t>Фильтры и выгрузка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92024" y="960120"/>
            <a:ext cx="5705855" cy="3265551"/>
          </a:xfrm>
          <a:prstGeom prst="roundRect">
            <a:avLst>
              <a:gd name="adj" fmla="val 3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9" name="violet_filter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7"/>
          <a:stretch>
            <a:fillRect/>
          </a:stretch>
        </p:blipFill>
        <p:spPr>
          <a:xfrm>
            <a:off x="256032" y="1024128"/>
            <a:ext cx="5577840" cy="3137535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6126480" y="1005840"/>
            <a:ext cx="28346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72784" y="107899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Фильтры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72784" y="137160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уровень, тип риска, спринт, поиск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26480" y="1828800"/>
            <a:ext cx="28346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272784" y="190195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Выгрузка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72784" y="219456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CSV, XLSX и JSON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26480" y="2651760"/>
            <a:ext cx="2834640" cy="896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72784" y="27249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Рабочий список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72784" y="3017520"/>
            <a:ext cx="25603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5A9E"/>
                </a:solidFill>
                <a:latin typeface="Golos"/>
              </a:rPr>
              <a:t>находки качества данных с решениями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9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9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71969" y="445126"/>
            <a:ext cx="15679" cy="2257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08031" y="445126"/>
            <a:ext cx="15365" cy="2257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49577" y="445126"/>
            <a:ext cx="15993" cy="2257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85638" y="445126"/>
            <a:ext cx="15365" cy="22578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622382" y="417100"/>
            <a:ext cx="24623" cy="15979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9"/>
          <a:srcRect b="-9"/>
          <a:stretch/>
        </p:blipFill>
        <p:spPr>
          <a:xfrm>
            <a:off x="8617059" y="428162"/>
            <a:ext cx="23871" cy="11080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44883" y="412565"/>
            <a:ext cx="9399" cy="10096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2"/>
          <a:srcRect r="10"/>
          <a:stretch/>
        </p:blipFill>
        <p:spPr>
          <a:xfrm>
            <a:off x="8705772" y="501571"/>
            <a:ext cx="10034" cy="13484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3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69710" y="457356"/>
            <a:ext cx="15679" cy="5017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8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19"/>
          <a:srcRect r="2"/>
          <a:stretch/>
        </p:blipFill>
        <p:spPr>
          <a:xfrm>
            <a:off x="8673837" y="553646"/>
            <a:ext cx="46661" cy="9229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1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8670651" y="432897"/>
            <a:ext cx="15679" cy="564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4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91283" y="556133"/>
            <a:ext cx="64911" cy="64597"/>
          </a:xfrm>
          <a:prstGeom prst="rect">
            <a:avLst/>
          </a:prstGeom>
        </p:spPr>
      </p:pic>
      <p:pic>
        <p:nvPicPr>
          <p:cNvPr id="59" name="Image 26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27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61" name="Image 28" descr="preencoded.png"/>
          <p:cNvPicPr>
            <a:picLocks noChangeAspect="1"/>
          </p:cNvPicPr>
          <p:nvPr/>
        </p:nvPicPr>
        <p:blipFill>
          <a:blip r:embed="rId28"/>
          <a:srcRect r="2" b="2"/>
          <a:stretch/>
        </p:blipFill>
        <p:spPr>
          <a:xfrm>
            <a:off x="8670023" y="643936"/>
            <a:ext cx="45155" cy="47977"/>
          </a:xfrm>
          <a:prstGeom prst="rect">
            <a:avLst/>
          </a:prstGeom>
        </p:spPr>
      </p:pic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29"/>
          <a:srcRect r="-2"/>
          <a:stretch/>
        </p:blipFill>
        <p:spPr>
          <a:xfrm>
            <a:off x="8729997" y="632401"/>
            <a:ext cx="51895" cy="49724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30"/>
          <a:srcRect r="2" b="-2"/>
          <a:stretch/>
        </p:blipFill>
        <p:spPr>
          <a:xfrm>
            <a:off x="8784166" y="596900"/>
            <a:ext cx="58639" cy="66166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8824618" y="552057"/>
            <a:ext cx="64911" cy="64284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66" name="Image 33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458357" y="356070"/>
            <a:ext cx="50843" cy="58013"/>
          </a:xfrm>
          <a:prstGeom prst="rect">
            <a:avLst/>
          </a:prstGeom>
        </p:spPr>
      </p:pic>
      <p:pic>
        <p:nvPicPr>
          <p:cNvPr id="67" name="Image 34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68" name="Image 35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519818" y="262622"/>
            <a:ext cx="64911" cy="65225"/>
          </a:xfrm>
          <a:prstGeom prst="rect">
            <a:avLst/>
          </a:prstGeom>
        </p:spPr>
      </p:pic>
      <p:pic>
        <p:nvPicPr>
          <p:cNvPr id="69" name="Image 36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625496" y="222484"/>
            <a:ext cx="46410" cy="53622"/>
          </a:xfrm>
          <a:prstGeom prst="rect">
            <a:avLst/>
          </a:prstGeom>
        </p:spPr>
      </p:pic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76923" y="221543"/>
            <a:ext cx="43588" cy="47665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725982" y="231031"/>
            <a:ext cx="50031" cy="49266"/>
          </a:xfrm>
          <a:prstGeom prst="rect">
            <a:avLst/>
          </a:prstGeom>
        </p:spPr>
      </p:pic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40"/>
          <a:srcRect b="-2"/>
          <a:stretch/>
        </p:blipFill>
        <p:spPr>
          <a:xfrm>
            <a:off x="8767860" y="244749"/>
            <a:ext cx="63343" cy="63971"/>
          </a:xfrm>
          <a:prstGeom prst="rect">
            <a:avLst/>
          </a:prstGeom>
        </p:spPr>
      </p:pic>
      <p:pic>
        <p:nvPicPr>
          <p:cNvPr id="74" name="Image 41" descr="preencoded.png"/>
          <p:cNvPicPr>
            <a:picLocks noChangeAspect="1"/>
          </p:cNvPicPr>
          <p:nvPr/>
        </p:nvPicPr>
        <p:blipFill>
          <a:blip r:embed="rId41"/>
          <a:srcRect r="2" b="-2"/>
          <a:stretch/>
        </p:blipFill>
        <p:spPr>
          <a:xfrm>
            <a:off x="8818974" y="277989"/>
            <a:ext cx="53308" cy="52996"/>
          </a:xfrm>
          <a:prstGeom prst="rect">
            <a:avLst/>
          </a:prstGeom>
        </p:spPr>
      </p:pic>
      <p:pic>
        <p:nvPicPr>
          <p:cNvPr id="75" name="Image 42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76" name="Image 43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92024" y="27432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olos"/>
              </a:rPr>
              <a:t>Находки качества данных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01168" y="9601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1168" y="96012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6B5A9E"/>
                </a:solidFill>
                <a:latin typeface="Golos"/>
              </a:rPr>
              <a:t>Уровень  ▾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389888" y="9601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389888" y="96012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6B5A9E"/>
                </a:solidFill>
                <a:latin typeface="Golos"/>
              </a:rPr>
              <a:t>Тип риска  ▾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578608" y="9601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578608" y="96012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6B5A9E"/>
                </a:solidFill>
                <a:latin typeface="Golos"/>
              </a:rPr>
              <a:t>Спринт  ▾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767328" y="9601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767328" y="96012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6B5A9E"/>
                </a:solidFill>
                <a:latin typeface="Golos"/>
              </a:rPr>
              <a:t>Поиск  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0" y="9601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315200" y="960120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E1065"/>
                </a:solidFill>
                <a:latin typeface="Golos"/>
              </a:rPr>
              <a:t>CSV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165592" y="9601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165592" y="960120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E1065"/>
                </a:solidFill>
                <a:latin typeface="Golos"/>
              </a:rPr>
              <a:t>XLSX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01168" y="1417320"/>
            <a:ext cx="874166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320040" y="1536192"/>
            <a:ext cx="8503920" cy="365760"/>
          </a:xfrm>
          <a:prstGeom prst="roundRect">
            <a:avLst>
              <a:gd name="adj" fmla="val 20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1536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5A9E"/>
                </a:solidFill>
                <a:latin typeface="Golos"/>
              </a:rPr>
              <a:t>Задача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83080" y="1536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5A9E"/>
                </a:solidFill>
                <a:latin typeface="Golos"/>
              </a:rPr>
              <a:t>Тип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11880" y="1536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5A9E"/>
                </a:solidFill>
                <a:latin typeface="Golos"/>
              </a:rPr>
              <a:t>Спринт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00600" y="1536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5A9E"/>
                </a:solidFill>
                <a:latin typeface="Golos"/>
              </a:rPr>
              <a:t>Статус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83680" y="1536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5A9E"/>
                </a:solidFill>
                <a:latin typeface="Golos"/>
              </a:rPr>
              <a:t>Решение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201168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E1065"/>
                </a:solidFill>
                <a:latin typeface="Golos"/>
              </a:rPr>
              <a:t>ANL-3042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783080" y="201168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A2F4C"/>
                </a:solidFill>
                <a:latin typeface="Golos"/>
              </a:rPr>
              <a:t>Зависимость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11880" y="20116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A2F4C"/>
                </a:solidFill>
                <a:latin typeface="Golos"/>
              </a:rPr>
              <a:t>Sprint 2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800600" y="2075688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FD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800600" y="2075688"/>
            <a:ext cx="1234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4232E"/>
                </a:solidFill>
                <a:latin typeface="Golos"/>
              </a:rPr>
              <a:t>Критичный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83680" y="201168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A2F4C"/>
                </a:solidFill>
                <a:latin typeface="Golos"/>
              </a:rPr>
              <a:t>Перенести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2578608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E1065"/>
                </a:solidFill>
                <a:latin typeface="Golos"/>
              </a:rPr>
              <a:t>ANL-3018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783080" y="2578608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A2F4C"/>
                </a:solidFill>
                <a:latin typeface="Golos"/>
              </a:rPr>
              <a:t>Качество данных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11880" y="2578608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A2F4C"/>
                </a:solidFill>
                <a:latin typeface="Golos"/>
              </a:rPr>
              <a:t>Sprint 1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800600" y="2642616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800600" y="2642616"/>
            <a:ext cx="1234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8A5A00"/>
                </a:solidFill>
                <a:latin typeface="Golos"/>
              </a:rPr>
              <a:t>На проверке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83680" y="2578608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A2F4C"/>
                </a:solidFill>
                <a:latin typeface="Golos"/>
              </a:rPr>
              <a:t>Назначить владельца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3145536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E1065"/>
                </a:solidFill>
                <a:latin typeface="Golos"/>
              </a:rPr>
              <a:t>ANL-3051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783080" y="3145536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A2F4C"/>
                </a:solidFill>
                <a:latin typeface="Golos"/>
              </a:rPr>
              <a:t>Перегрузка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11880" y="3145536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A2F4C"/>
                </a:solidFill>
                <a:latin typeface="Golos"/>
              </a:rPr>
              <a:t>Sprint 3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800600" y="3209544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800600" y="3209544"/>
            <a:ext cx="1234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D4ED8"/>
                </a:solidFill>
                <a:latin typeface="Golos"/>
              </a:rPr>
              <a:t>Средний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583680" y="3145536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A2F4C"/>
                </a:solidFill>
                <a:latin typeface="Golos"/>
              </a:rPr>
              <a:t>Снизить объём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01168" y="4023360"/>
            <a:ext cx="8741664" cy="4206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01168" y="4023360"/>
            <a:ext cx="874166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E1065"/>
                </a:solidFill>
                <a:latin typeface="Golos"/>
              </a:rPr>
              <a:t>Поддерживаемые форматы: CSV · XLSX · 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9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71969" y="445126"/>
            <a:ext cx="15679" cy="2257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08031" y="445126"/>
            <a:ext cx="15365" cy="2257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49577" y="445126"/>
            <a:ext cx="15993" cy="2257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85638" y="445126"/>
            <a:ext cx="15365" cy="22578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22382" y="417100"/>
            <a:ext cx="24623" cy="15979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2"/>
          <a:srcRect b="-9"/>
          <a:stretch/>
        </p:blipFill>
        <p:spPr>
          <a:xfrm>
            <a:off x="8617059" y="428162"/>
            <a:ext cx="23871" cy="11080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644883" y="412565"/>
            <a:ext cx="9399" cy="10096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5"/>
          <a:srcRect r="10"/>
          <a:stretch/>
        </p:blipFill>
        <p:spPr>
          <a:xfrm>
            <a:off x="8705772" y="501571"/>
            <a:ext cx="10034" cy="13484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6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669710" y="457356"/>
            <a:ext cx="15679" cy="5017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21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2"/>
          <a:srcRect r="2"/>
          <a:stretch/>
        </p:blipFill>
        <p:spPr>
          <a:xfrm>
            <a:off x="8673837" y="553646"/>
            <a:ext cx="46661" cy="9229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4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8670651" y="432897"/>
            <a:ext cx="15679" cy="564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7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8"/>
          <a:srcRect b="2"/>
          <a:stretch/>
        </p:blipFill>
        <p:spPr>
          <a:xfrm>
            <a:off x="8491283" y="556133"/>
            <a:ext cx="64911" cy="64597"/>
          </a:xfrm>
          <a:prstGeom prst="rect">
            <a:avLst/>
          </a:prstGeom>
        </p:spPr>
      </p:pic>
      <p:pic>
        <p:nvPicPr>
          <p:cNvPr id="59" name="Image 26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61" name="Image 28" descr="preencoded.png"/>
          <p:cNvPicPr>
            <a:picLocks noChangeAspect="1"/>
          </p:cNvPicPr>
          <p:nvPr/>
        </p:nvPicPr>
        <p:blipFill>
          <a:blip r:embed="rId31"/>
          <a:srcRect r="2" b="2"/>
          <a:stretch/>
        </p:blipFill>
        <p:spPr>
          <a:xfrm>
            <a:off x="8670023" y="643936"/>
            <a:ext cx="45155" cy="47977"/>
          </a:xfrm>
          <a:prstGeom prst="rect">
            <a:avLst/>
          </a:prstGeom>
        </p:spPr>
      </p:pic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32"/>
          <a:srcRect r="-2"/>
          <a:stretch/>
        </p:blipFill>
        <p:spPr>
          <a:xfrm>
            <a:off x="8729997" y="632401"/>
            <a:ext cx="51895" cy="49724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33"/>
          <a:srcRect r="2" b="-2"/>
          <a:stretch/>
        </p:blipFill>
        <p:spPr>
          <a:xfrm>
            <a:off x="8784166" y="596900"/>
            <a:ext cx="58639" cy="66166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824618" y="552057"/>
            <a:ext cx="64911" cy="64284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66" name="Image 33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458357" y="356070"/>
            <a:ext cx="50843" cy="58013"/>
          </a:xfrm>
          <a:prstGeom prst="rect">
            <a:avLst/>
          </a:prstGeom>
        </p:spPr>
      </p:pic>
      <p:pic>
        <p:nvPicPr>
          <p:cNvPr id="67" name="Image 34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68" name="Image 35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519818" y="262622"/>
            <a:ext cx="64911" cy="65225"/>
          </a:xfrm>
          <a:prstGeom prst="rect">
            <a:avLst/>
          </a:prstGeom>
        </p:spPr>
      </p:pic>
      <p:pic>
        <p:nvPicPr>
          <p:cNvPr id="69" name="Image 36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625496" y="222484"/>
            <a:ext cx="46410" cy="53622"/>
          </a:xfrm>
          <a:prstGeom prst="rect">
            <a:avLst/>
          </a:prstGeom>
        </p:spPr>
      </p:pic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41"/>
          <a:srcRect/>
          <a:stretch/>
        </p:blipFill>
        <p:spPr>
          <a:xfrm>
            <a:off x="8676923" y="221543"/>
            <a:ext cx="43588" cy="47665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8725982" y="231031"/>
            <a:ext cx="50031" cy="49266"/>
          </a:xfrm>
          <a:prstGeom prst="rect">
            <a:avLst/>
          </a:prstGeom>
        </p:spPr>
      </p:pic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43"/>
          <a:srcRect b="-2"/>
          <a:stretch/>
        </p:blipFill>
        <p:spPr>
          <a:xfrm>
            <a:off x="8767860" y="244749"/>
            <a:ext cx="63343" cy="63971"/>
          </a:xfrm>
          <a:prstGeom prst="rect">
            <a:avLst/>
          </a:prstGeom>
        </p:spPr>
      </p:pic>
      <p:pic>
        <p:nvPicPr>
          <p:cNvPr id="74" name="Image 41" descr="preencoded.png"/>
          <p:cNvPicPr>
            <a:picLocks noChangeAspect="1"/>
          </p:cNvPicPr>
          <p:nvPr/>
        </p:nvPicPr>
        <p:blipFill>
          <a:blip r:embed="rId44"/>
          <a:srcRect r="2" b="-2"/>
          <a:stretch/>
        </p:blipFill>
        <p:spPr>
          <a:xfrm>
            <a:off x="8818974" y="277989"/>
            <a:ext cx="53308" cy="52996"/>
          </a:xfrm>
          <a:prstGeom prst="rect">
            <a:avLst/>
          </a:prstGeom>
        </p:spPr>
      </p:pic>
      <p:pic>
        <p:nvPicPr>
          <p:cNvPr id="75" name="Image 42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76" name="Image 43" descr="preencoded.png"/>
          <p:cNvPicPr>
            <a:picLocks noChangeAspect="1"/>
          </p:cNvPicPr>
          <p:nvPr/>
        </p:nvPicPr>
        <p:blipFill>
          <a:blip r:embed="rId46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92024" y="27432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olos"/>
              </a:rPr>
              <a:t>Подстроим под себя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92024" y="960120"/>
            <a:ext cx="5705855" cy="3265551"/>
          </a:xfrm>
          <a:prstGeom prst="roundRect">
            <a:avLst>
              <a:gd name="adj" fmla="val 3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9" name="default_theme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7"/>
          <a:stretch>
            <a:fillRect/>
          </a:stretch>
        </p:blipFill>
        <p:spPr>
          <a:xfrm>
            <a:off x="256032" y="1024128"/>
            <a:ext cx="5577840" cy="3137535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6126480" y="1005840"/>
            <a:ext cx="28346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72784" y="107899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Четыре палитры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72784" y="137160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080"/>
                </a:solidFill>
                <a:latin typeface="Golos"/>
              </a:rPr>
              <a:t>на любой вкус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26480" y="1828800"/>
            <a:ext cx="28346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272784" y="190195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Светлый и тёмный режим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72784" y="219456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080"/>
                </a:solidFill>
                <a:latin typeface="Golos"/>
              </a:rPr>
              <a:t>у каждой палитры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26480" y="2651760"/>
            <a:ext cx="28346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72784" y="27249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1065"/>
                </a:solidFill>
                <a:latin typeface="Golos"/>
              </a:rPr>
              <a:t>Один клик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72784" y="301752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080"/>
                </a:solidFill>
                <a:latin typeface="Golos"/>
              </a:rPr>
              <a:t>и интерфейс ваш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9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6"/>
            <a:ext cx="15679" cy="2257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6"/>
            <a:ext cx="15365" cy="2257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6"/>
            <a:ext cx="15993" cy="2257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6"/>
            <a:ext cx="15365" cy="22578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0"/>
            <a:ext cx="24623" cy="15979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0"/>
          <a:srcRect b="-9"/>
          <a:stretch/>
        </p:blipFill>
        <p:spPr>
          <a:xfrm>
            <a:off x="8617059" y="428162"/>
            <a:ext cx="23871" cy="11080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6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3"/>
          <a:srcRect r="10"/>
          <a:stretch/>
        </p:blipFill>
        <p:spPr>
          <a:xfrm>
            <a:off x="8705772" y="501571"/>
            <a:ext cx="10034" cy="13484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6"/>
            <a:ext cx="15679" cy="5017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9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0"/>
          <a:srcRect r="2"/>
          <a:stretch/>
        </p:blipFill>
        <p:spPr>
          <a:xfrm>
            <a:off x="8673837" y="553646"/>
            <a:ext cx="46661" cy="9229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7"/>
            <a:ext cx="15679" cy="564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6"/>
          <a:srcRect b="2"/>
          <a:stretch/>
        </p:blipFill>
        <p:spPr>
          <a:xfrm>
            <a:off x="8491283" y="556133"/>
            <a:ext cx="64911" cy="64597"/>
          </a:xfrm>
          <a:prstGeom prst="rect">
            <a:avLst/>
          </a:prstGeom>
        </p:spPr>
      </p:pic>
      <p:pic>
        <p:nvPicPr>
          <p:cNvPr id="59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28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61" name="Image 28" descr="preencoded.png"/>
          <p:cNvPicPr>
            <a:picLocks noChangeAspect="1"/>
          </p:cNvPicPr>
          <p:nvPr/>
        </p:nvPicPr>
        <p:blipFill>
          <a:blip r:embed="rId29"/>
          <a:srcRect r="2" b="2"/>
          <a:stretch/>
        </p:blipFill>
        <p:spPr>
          <a:xfrm>
            <a:off x="8670023" y="643936"/>
            <a:ext cx="45155" cy="47977"/>
          </a:xfrm>
          <a:prstGeom prst="rect">
            <a:avLst/>
          </a:prstGeom>
        </p:spPr>
      </p:pic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729997" y="632401"/>
            <a:ext cx="51895" cy="49724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31"/>
          <a:srcRect r="2" b="-2"/>
          <a:stretch/>
        </p:blipFill>
        <p:spPr>
          <a:xfrm>
            <a:off x="8784166" y="596900"/>
            <a:ext cx="58639" cy="66166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7"/>
            <a:ext cx="64911" cy="64284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66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0"/>
            <a:ext cx="50843" cy="58013"/>
          </a:xfrm>
          <a:prstGeom prst="rect">
            <a:avLst/>
          </a:prstGeom>
        </p:spPr>
      </p:pic>
      <p:pic>
        <p:nvPicPr>
          <p:cNvPr id="67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68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519818" y="262622"/>
            <a:ext cx="64911" cy="65225"/>
          </a:xfrm>
          <a:prstGeom prst="rect">
            <a:avLst/>
          </a:prstGeom>
        </p:spPr>
      </p:pic>
      <p:pic>
        <p:nvPicPr>
          <p:cNvPr id="69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4"/>
            <a:ext cx="46410" cy="53622"/>
          </a:xfrm>
          <a:prstGeom prst="rect">
            <a:avLst/>
          </a:prstGeom>
        </p:spPr>
      </p:pic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3"/>
            <a:ext cx="43588" cy="47665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1"/>
            <a:ext cx="50031" cy="49266"/>
          </a:xfrm>
          <a:prstGeom prst="rect">
            <a:avLst/>
          </a:prstGeom>
        </p:spPr>
      </p:pic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49"/>
            <a:ext cx="63343" cy="63971"/>
          </a:xfrm>
          <a:prstGeom prst="rect">
            <a:avLst/>
          </a:prstGeom>
        </p:spPr>
      </p:pic>
      <p:pic>
        <p:nvPicPr>
          <p:cNvPr id="74" name="Image 41" descr="preencoded.png"/>
          <p:cNvPicPr>
            <a:picLocks noChangeAspect="1"/>
          </p:cNvPicPr>
          <p:nvPr/>
        </p:nvPicPr>
        <p:blipFill>
          <a:blip r:embed="rId42"/>
          <a:srcRect r="2" b="-2"/>
          <a:stretch/>
        </p:blipFill>
        <p:spPr>
          <a:xfrm>
            <a:off x="8818974" y="277989"/>
            <a:ext cx="53308" cy="52996"/>
          </a:xfrm>
          <a:prstGeom prst="rect">
            <a:avLst/>
          </a:prstGeom>
        </p:spPr>
      </p:pic>
      <p:pic>
        <p:nvPicPr>
          <p:cNvPr id="75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76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92024" y="27432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olos"/>
              </a:rPr>
              <a:t>Что получается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01168" y="1051560"/>
            <a:ext cx="352044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29768" y="11887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6D28D9"/>
                </a:solidFill>
                <a:latin typeface="Golos"/>
              </a:rPr>
              <a:t>Польза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9768" y="1691640"/>
            <a:ext cx="310896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2A2F4C"/>
                </a:solidFill>
                <a:latin typeface="Golos"/>
              </a:rPr>
              <a:t>→  Менеджер за минуту видит план, риски и причины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A2F4C"/>
                </a:solidFill>
                <a:latin typeface="Golos"/>
              </a:rPr>
              <a:t>→  Решения объяснены: почему задача вошла или ушла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A2F4C"/>
                </a:solidFill>
                <a:latin typeface="Golos"/>
              </a:rPr>
              <a:t>→  Любой сотрудник спрашивает словами, без обучения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A2F4C"/>
                </a:solidFill>
                <a:latin typeface="Golos"/>
              </a:rPr>
              <a:t>→  Данные остаются у вас: можно подключить локальную модель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858768" y="1051560"/>
            <a:ext cx="352044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087368" y="11887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6D28D9"/>
                </a:solidFill>
                <a:latin typeface="Golos"/>
              </a:rPr>
              <a:t>Дальше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87368" y="1691640"/>
            <a:ext cx="310896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2A2F4C"/>
                </a:solidFill>
                <a:latin typeface="Golos"/>
              </a:rPr>
              <a:t>→  Несколько кварталов и сценариев уже поддерживаются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A2F4C"/>
                </a:solidFill>
                <a:latin typeface="Golos"/>
              </a:rPr>
              <a:t>→  Роли и журнал действий — для командной работы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A2F4C"/>
                </a:solidFill>
                <a:latin typeface="Golos"/>
              </a:rPr>
              <a:t>→  Запуск одной командой: Docker, мониторинг, резервные копии</a:t>
            </a:r>
          </a:p>
        </p:txBody>
      </p:sp>
      <p:pic>
        <p:nvPicPr>
          <p:cNvPr id="2" name="Image 44" descr="preencoded.png"/>
          <p:cNvPicPr>
            <a:picLocks noChangeAspect="1"/>
          </p:cNvPicPr>
          <p:nvPr/>
        </p:nvPicPr>
        <p:blipFill>
          <a:blip r:embed="rId45"/>
          <a:srcRect b="2649"/>
          <a:stretch/>
        </p:blipFill>
        <p:spPr>
          <a:xfrm>
            <a:off x="6400800" y="3310128"/>
            <a:ext cx="2377440" cy="1691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361950"/>
            <a:ext cx="3757613" cy="360045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28625" y="36195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625" y="476250"/>
            <a:ext cx="1095375" cy="30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76400" y="36195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b="-9"/>
          <a:stretch/>
        </p:blipFill>
        <p:spPr>
          <a:xfrm>
            <a:off x="2128269" y="616576"/>
            <a:ext cx="15679" cy="2258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46143" y="607484"/>
            <a:ext cx="16306" cy="38886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2164331" y="616576"/>
            <a:ext cx="15365" cy="2258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705877" y="616576"/>
            <a:ext cx="15993" cy="2258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1741938" y="616576"/>
            <a:ext cx="15365" cy="2258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85180" y="370731"/>
            <a:ext cx="515526" cy="515527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rcRect b="-6"/>
          <a:stretch/>
        </p:blipFill>
        <p:spPr>
          <a:xfrm>
            <a:off x="1878682" y="588550"/>
            <a:ext cx="24623" cy="1598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 b="9"/>
          <a:stretch/>
        </p:blipFill>
        <p:spPr>
          <a:xfrm>
            <a:off x="1873359" y="599613"/>
            <a:ext cx="23871" cy="11078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rcRect b="30"/>
          <a:stretch/>
        </p:blipFill>
        <p:spPr>
          <a:xfrm>
            <a:off x="1901183" y="584015"/>
            <a:ext cx="9399" cy="10092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2"/>
          <a:srcRect b="21"/>
          <a:stretch/>
        </p:blipFill>
        <p:spPr>
          <a:xfrm>
            <a:off x="1926951" y="672396"/>
            <a:ext cx="11916" cy="14422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 b="7"/>
          <a:stretch/>
        </p:blipFill>
        <p:spPr>
          <a:xfrm>
            <a:off x="1962072" y="673024"/>
            <a:ext cx="10035" cy="13483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 b="11"/>
          <a:stretch/>
        </p:blipFill>
        <p:spPr>
          <a:xfrm>
            <a:off x="1926951" y="648877"/>
            <a:ext cx="11916" cy="17622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944825" y="67270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rcRect b="12"/>
          <a:stretch/>
        </p:blipFill>
        <p:spPr>
          <a:xfrm>
            <a:off x="1945138" y="650760"/>
            <a:ext cx="10975" cy="16055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964953" y="619354"/>
            <a:ext cx="19320" cy="5739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 b="-20"/>
          <a:stretch/>
        </p:blipFill>
        <p:spPr>
          <a:xfrm>
            <a:off x="1926010" y="628808"/>
            <a:ext cx="15679" cy="5018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870846" y="714851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9"/>
          <a:srcRect b="-20"/>
          <a:stretch/>
        </p:blipFill>
        <p:spPr>
          <a:xfrm>
            <a:off x="2002089" y="736780"/>
            <a:ext cx="51611" cy="10051"/>
          </a:xfrm>
          <a:prstGeom prst="rect">
            <a:avLst/>
          </a:prstGeom>
        </p:spPr>
      </p:pic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20"/>
          <a:srcRect r="2" b="-33"/>
          <a:stretch/>
        </p:blipFill>
        <p:spPr>
          <a:xfrm>
            <a:off x="1930137" y="725097"/>
            <a:ext cx="46661" cy="9232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774237" y="459786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914408" y="607795"/>
            <a:ext cx="11602" cy="8153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23"/>
          <a:srcRect b="-35"/>
          <a:stretch/>
        </p:blipFill>
        <p:spPr>
          <a:xfrm>
            <a:off x="1926951" y="604349"/>
            <a:ext cx="15679" cy="5646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1925069" y="607795"/>
            <a:ext cx="15365" cy="5330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1718106" y="674903"/>
            <a:ext cx="60521" cy="59266"/>
          </a:xfrm>
          <a:prstGeom prst="rect">
            <a:avLst/>
          </a:prstGeom>
        </p:spPr>
      </p:pic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26"/>
          <a:srcRect b="3"/>
          <a:stretch/>
        </p:blipFill>
        <p:spPr>
          <a:xfrm>
            <a:off x="1747583" y="727583"/>
            <a:ext cx="64911" cy="64596"/>
          </a:xfrm>
          <a:prstGeom prst="rect">
            <a:avLst/>
          </a:prstGeom>
        </p:spPr>
      </p:pic>
      <p:pic>
        <p:nvPicPr>
          <p:cNvPr id="31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1794933" y="771172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/>
          <p:cNvPicPr>
            <a:picLocks noChangeAspect="1"/>
          </p:cNvPicPr>
          <p:nvPr/>
        </p:nvPicPr>
        <p:blipFill>
          <a:blip r:embed="rId28"/>
          <a:srcRect b="2"/>
          <a:stretch/>
        </p:blipFill>
        <p:spPr>
          <a:xfrm>
            <a:off x="1858783" y="805965"/>
            <a:ext cx="52923" cy="49574"/>
          </a:xfrm>
          <a:prstGeom prst="rect">
            <a:avLst/>
          </a:prstGeom>
        </p:spPr>
      </p:pic>
      <p:pic>
        <p:nvPicPr>
          <p:cNvPr id="33" name="Image 28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1926323" y="815387"/>
            <a:ext cx="45156" cy="47978"/>
          </a:xfrm>
          <a:prstGeom prst="rect">
            <a:avLst/>
          </a:prstGeom>
        </p:spPr>
      </p:pic>
      <p:pic>
        <p:nvPicPr>
          <p:cNvPr id="34" name="Image 29" descr="preencoded.png"/>
          <p:cNvPicPr>
            <a:picLocks noChangeAspect="1"/>
          </p:cNvPicPr>
          <p:nvPr/>
        </p:nvPicPr>
        <p:blipFill>
          <a:blip r:embed="rId30"/>
          <a:srcRect b="2"/>
          <a:stretch/>
        </p:blipFill>
        <p:spPr>
          <a:xfrm>
            <a:off x="1986297" y="803853"/>
            <a:ext cx="51894" cy="49723"/>
          </a:xfrm>
          <a:prstGeom prst="rect">
            <a:avLst/>
          </a:prstGeom>
        </p:spPr>
      </p:pic>
      <p:pic>
        <p:nvPicPr>
          <p:cNvPr id="35" name="Image 30" descr="preencoded.png"/>
          <p:cNvPicPr>
            <a:picLocks noChangeAspect="1"/>
          </p:cNvPicPr>
          <p:nvPr/>
        </p:nvPicPr>
        <p:blipFill>
          <a:blip r:embed="rId31"/>
          <a:srcRect r="2" b="3"/>
          <a:stretch/>
        </p:blipFill>
        <p:spPr>
          <a:xfrm>
            <a:off x="2040467" y="768348"/>
            <a:ext cx="58639" cy="66163"/>
          </a:xfrm>
          <a:prstGeom prst="rect">
            <a:avLst/>
          </a:prstGeom>
        </p:spPr>
      </p:pic>
      <p:pic>
        <p:nvPicPr>
          <p:cNvPr id="36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2080919" y="723509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2119195" y="67490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/>
          <p:cNvPicPr>
            <a:picLocks noChangeAspect="1"/>
          </p:cNvPicPr>
          <p:nvPr/>
        </p:nvPicPr>
        <p:blipFill>
          <a:blip r:embed="rId34"/>
          <a:srcRect b="3"/>
          <a:stretch/>
        </p:blipFill>
        <p:spPr>
          <a:xfrm>
            <a:off x="1714657" y="527521"/>
            <a:ext cx="50843" cy="58010"/>
          </a:xfrm>
          <a:prstGeom prst="rect">
            <a:avLst/>
          </a:prstGeom>
        </p:spPr>
      </p:pic>
      <p:pic>
        <p:nvPicPr>
          <p:cNvPr id="39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1737548" y="478287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1776119" y="434076"/>
            <a:ext cx="64911" cy="65224"/>
          </a:xfrm>
          <a:prstGeom prst="rect">
            <a:avLst/>
          </a:prstGeom>
        </p:spPr>
      </p:pic>
      <p:pic>
        <p:nvPicPr>
          <p:cNvPr id="41" name="Image 36" descr="preencoded.png"/>
          <p:cNvPicPr>
            <a:picLocks noChangeAspect="1"/>
          </p:cNvPicPr>
          <p:nvPr/>
        </p:nvPicPr>
        <p:blipFill>
          <a:blip r:embed="rId37"/>
          <a:srcRect b="2"/>
          <a:stretch/>
        </p:blipFill>
        <p:spPr>
          <a:xfrm>
            <a:off x="1827232" y="411589"/>
            <a:ext cx="54406" cy="55411"/>
          </a:xfrm>
          <a:prstGeom prst="rect">
            <a:avLst/>
          </a:prstGeom>
        </p:spPr>
      </p:pic>
      <p:pic>
        <p:nvPicPr>
          <p:cNvPr id="42" name="Image 37" descr="preencoded.png"/>
          <p:cNvPicPr>
            <a:picLocks noChangeAspect="1"/>
          </p:cNvPicPr>
          <p:nvPr/>
        </p:nvPicPr>
        <p:blipFill>
          <a:blip r:embed="rId38"/>
          <a:srcRect b="4"/>
          <a:stretch/>
        </p:blipFill>
        <p:spPr>
          <a:xfrm>
            <a:off x="1881795" y="393934"/>
            <a:ext cx="46410" cy="53620"/>
          </a:xfrm>
          <a:prstGeom prst="rect">
            <a:avLst/>
          </a:prstGeom>
        </p:spPr>
      </p:pic>
      <p:pic>
        <p:nvPicPr>
          <p:cNvPr id="43" name="Image 38" descr="preencoded.png"/>
          <p:cNvPicPr>
            <a:picLocks noChangeAspect="1"/>
          </p:cNvPicPr>
          <p:nvPr/>
        </p:nvPicPr>
        <p:blipFill>
          <a:blip r:embed="rId39"/>
          <a:srcRect b="4"/>
          <a:stretch/>
        </p:blipFill>
        <p:spPr>
          <a:xfrm>
            <a:off x="1933222" y="392995"/>
            <a:ext cx="43588" cy="47662"/>
          </a:xfrm>
          <a:prstGeom prst="rect">
            <a:avLst/>
          </a:prstGeom>
        </p:spPr>
      </p:pic>
      <p:pic>
        <p:nvPicPr>
          <p:cNvPr id="44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1982283" y="402482"/>
            <a:ext cx="50031" cy="49267"/>
          </a:xfrm>
          <a:prstGeom prst="rect">
            <a:avLst/>
          </a:prstGeom>
        </p:spPr>
      </p:pic>
      <p:pic>
        <p:nvPicPr>
          <p:cNvPr id="45" name="Image 40" descr="preencoded.png"/>
          <p:cNvPicPr>
            <a:picLocks noChangeAspect="1"/>
          </p:cNvPicPr>
          <p:nvPr/>
        </p:nvPicPr>
        <p:blipFill>
          <a:blip r:embed="rId41"/>
          <a:srcRect b="3"/>
          <a:stretch/>
        </p:blipFill>
        <p:spPr>
          <a:xfrm>
            <a:off x="2024160" y="416198"/>
            <a:ext cx="63343" cy="63968"/>
          </a:xfrm>
          <a:prstGeom prst="rect">
            <a:avLst/>
          </a:prstGeom>
        </p:spPr>
      </p:pic>
      <p:pic>
        <p:nvPicPr>
          <p:cNvPr id="46" name="Image 41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2075274" y="449438"/>
            <a:ext cx="53309" cy="52997"/>
          </a:xfrm>
          <a:prstGeom prst="rect">
            <a:avLst/>
          </a:prstGeom>
        </p:spPr>
      </p:pic>
      <p:pic>
        <p:nvPicPr>
          <p:cNvPr id="47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2096598" y="491458"/>
            <a:ext cx="59580" cy="56759"/>
          </a:xfrm>
          <a:prstGeom prst="rect">
            <a:avLst/>
          </a:prstGeom>
        </p:spPr>
      </p:pic>
      <p:pic>
        <p:nvPicPr>
          <p:cNvPr id="48" name="Image 43" descr="preencoded.png"/>
          <p:cNvPicPr>
            <a:picLocks noChangeAspect="1"/>
          </p:cNvPicPr>
          <p:nvPr/>
        </p:nvPicPr>
        <p:blipFill>
          <a:blip r:embed="rId44"/>
          <a:srcRect b="5"/>
          <a:stretch/>
        </p:blipFill>
        <p:spPr>
          <a:xfrm>
            <a:off x="2121371" y="534419"/>
            <a:ext cx="53622" cy="43272"/>
          </a:xfrm>
          <a:prstGeom prst="rect">
            <a:avLst/>
          </a:prstGeom>
        </p:spPr>
      </p:pic>
      <p:sp>
        <p:nvSpPr>
          <p:cNvPr id="49" name="Shape 3"/>
          <p:cNvSpPr/>
          <p:nvPr/>
        </p:nvSpPr>
        <p:spPr>
          <a:xfrm>
            <a:off x="428625" y="1943100"/>
            <a:ext cx="3757613" cy="400050"/>
          </a:xfrm>
          <a:prstGeom prst="rect">
            <a:avLst/>
          </a:prstGeom>
          <a:noFill/>
          <a:ln/>
        </p:spPr>
      </p:sp>
      <p:sp>
        <p:nvSpPr>
          <p:cNvPr id="50" name="Text 4"/>
          <p:cNvSpPr/>
          <p:nvPr/>
        </p:nvSpPr>
        <p:spPr>
          <a:xfrm>
            <a:off x="429768" y="16002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4906"/>
              </a:lnSpc>
              <a:buNone/>
            </a:pPr>
            <a:r>
              <a:rPr lang="en-US" sz="4000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Спасибо за внимание!
</a:t>
            </a:r>
            <a:endParaRPr lang="en-US" sz="5451" dirty="0"/>
          </a:p>
        </p:txBody>
      </p:sp>
      <p:pic>
        <p:nvPicPr>
          <p:cNvPr id="51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5362575" y="2286000"/>
            <a:ext cx="3667125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ol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ol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Gol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ol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1162</Words>
  <Application>Microsoft Office PowerPoint</Application>
  <PresentationFormat>Экран (16:9)</PresentationFormat>
  <Paragraphs>160</Paragraphs>
  <Slides>13</Slides>
  <Notes>11</Notes>
  <HiddenSlides>0</HiddenSlides>
  <MMClips>5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Golos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Oleg Gorodetsky</cp:lastModifiedBy>
  <cp:revision>4</cp:revision>
  <dcterms:created xsi:type="dcterms:W3CDTF">2026-09-18T14:31:45Z</dcterms:created>
  <dcterms:modified xsi:type="dcterms:W3CDTF">2026-10-06T10:50:39Z</dcterms:modified>
</cp:coreProperties>
</file>